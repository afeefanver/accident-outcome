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7"/>
  </p:notesMasterIdLst>
  <p:sldIdLst>
    <p:sldId id="256" r:id="rId2"/>
    <p:sldId id="715" r:id="rId3"/>
    <p:sldId id="714" r:id="rId4"/>
    <p:sldId id="717" r:id="rId5"/>
    <p:sldId id="729" r:id="rId6"/>
    <p:sldId id="718" r:id="rId7"/>
    <p:sldId id="730" r:id="rId8"/>
    <p:sldId id="719" r:id="rId9"/>
    <p:sldId id="731" r:id="rId10"/>
    <p:sldId id="720" r:id="rId11"/>
    <p:sldId id="732" r:id="rId12"/>
    <p:sldId id="716" r:id="rId13"/>
    <p:sldId id="733" r:id="rId14"/>
    <p:sldId id="674" r:id="rId15"/>
    <p:sldId id="734" r:id="rId16"/>
    <p:sldId id="676" r:id="rId17"/>
    <p:sldId id="735" r:id="rId18"/>
    <p:sldId id="723" r:id="rId19"/>
    <p:sldId id="736" r:id="rId20"/>
    <p:sldId id="724" r:id="rId21"/>
    <p:sldId id="737" r:id="rId22"/>
    <p:sldId id="738" r:id="rId23"/>
    <p:sldId id="739" r:id="rId24"/>
    <p:sldId id="740" r:id="rId25"/>
    <p:sldId id="3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CFF"/>
    <a:srgbClr val="8FAADC"/>
    <a:srgbClr val="333F50"/>
    <a:srgbClr val="8497B0"/>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1418" autoAdjust="0"/>
  </p:normalViewPr>
  <p:slideViewPr>
    <p:cSldViewPr snapToGrid="0">
      <p:cViewPr varScale="1">
        <p:scale>
          <a:sx n="79" d="100"/>
          <a:sy n="79" d="100"/>
        </p:scale>
        <p:origin x="754" y="10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1E9876-3F1E-4C3C-966E-B8BCE0B14A45}" type="doc">
      <dgm:prSet loTypeId="urn:microsoft.com/office/officeart/2005/8/layout/process1" loCatId="process" qsTypeId="urn:microsoft.com/office/officeart/2005/8/quickstyle/simple5" qsCatId="simple" csTypeId="urn:microsoft.com/office/officeart/2005/8/colors/accent1_2" csCatId="accent1" phldr="1"/>
      <dgm:spPr/>
    </dgm:pt>
    <dgm:pt modelId="{19848C32-CABA-4C4B-985F-56B8B2F9A87C}">
      <dgm:prSet phldrT="[Text]"/>
      <dgm:spPr/>
      <dgm:t>
        <a:bodyPr/>
        <a:lstStyle/>
        <a:p>
          <a:r>
            <a:rPr lang="en-US" dirty="0" smtClean="0"/>
            <a:t>Data</a:t>
          </a:r>
          <a:endParaRPr lang="en-US" dirty="0"/>
        </a:p>
      </dgm:t>
    </dgm:pt>
    <dgm:pt modelId="{A164A996-0D85-4FB6-BFEA-0EC7BA112CC8}" type="parTrans" cxnId="{DF0F58DD-8DE5-4E8E-9695-AF412008A511}">
      <dgm:prSet/>
      <dgm:spPr/>
      <dgm:t>
        <a:bodyPr/>
        <a:lstStyle/>
        <a:p>
          <a:endParaRPr lang="en-US"/>
        </a:p>
      </dgm:t>
    </dgm:pt>
    <dgm:pt modelId="{8B20E435-79E0-46E3-974D-75CB4DD084D2}" type="sibTrans" cxnId="{DF0F58DD-8DE5-4E8E-9695-AF412008A511}">
      <dgm:prSet/>
      <dgm:spPr/>
      <dgm:t>
        <a:bodyPr/>
        <a:lstStyle/>
        <a:p>
          <a:endParaRPr lang="en-US"/>
        </a:p>
      </dgm:t>
    </dgm:pt>
    <dgm:pt modelId="{35DECCDE-E1C0-45FB-8B1F-5F6E2E24BEA6}">
      <dgm:prSet phldrT="[Text]"/>
      <dgm:spPr/>
      <dgm:t>
        <a:bodyPr/>
        <a:lstStyle/>
        <a:p>
          <a:r>
            <a:rPr lang="en-US" dirty="0" smtClean="0"/>
            <a:t>Clean</a:t>
          </a:r>
          <a:endParaRPr lang="en-US" dirty="0"/>
        </a:p>
      </dgm:t>
    </dgm:pt>
    <dgm:pt modelId="{C95345DC-BEFF-4C8D-B3AF-73E4A2FDECC1}" type="parTrans" cxnId="{2F5BE6D5-DE53-453A-9777-A900C6A43900}">
      <dgm:prSet/>
      <dgm:spPr/>
      <dgm:t>
        <a:bodyPr/>
        <a:lstStyle/>
        <a:p>
          <a:endParaRPr lang="en-US"/>
        </a:p>
      </dgm:t>
    </dgm:pt>
    <dgm:pt modelId="{5C129573-B5D2-4A24-9CF6-D4C9E79C62C1}" type="sibTrans" cxnId="{2F5BE6D5-DE53-453A-9777-A900C6A43900}">
      <dgm:prSet/>
      <dgm:spPr/>
      <dgm:t>
        <a:bodyPr/>
        <a:lstStyle/>
        <a:p>
          <a:endParaRPr lang="en-US"/>
        </a:p>
      </dgm:t>
    </dgm:pt>
    <dgm:pt modelId="{77754712-B3F2-4302-BAF4-84B90D442E06}">
      <dgm:prSet phldrT="[Text]"/>
      <dgm:spPr/>
      <dgm:t>
        <a:bodyPr/>
        <a:lstStyle/>
        <a:p>
          <a:r>
            <a:rPr lang="en-US" dirty="0" smtClean="0"/>
            <a:t>Engineer</a:t>
          </a:r>
          <a:endParaRPr lang="en-US" dirty="0"/>
        </a:p>
      </dgm:t>
    </dgm:pt>
    <dgm:pt modelId="{86D4498D-0D57-4B28-B92D-D33E6AC89AB3}" type="parTrans" cxnId="{0853D2DC-B623-4841-A81D-3E045370225D}">
      <dgm:prSet/>
      <dgm:spPr/>
      <dgm:t>
        <a:bodyPr/>
        <a:lstStyle/>
        <a:p>
          <a:endParaRPr lang="en-US"/>
        </a:p>
      </dgm:t>
    </dgm:pt>
    <dgm:pt modelId="{4792396B-E529-4AE5-9BD6-B2B8D77BEF13}" type="sibTrans" cxnId="{0853D2DC-B623-4841-A81D-3E045370225D}">
      <dgm:prSet/>
      <dgm:spPr/>
      <dgm:t>
        <a:bodyPr/>
        <a:lstStyle/>
        <a:p>
          <a:endParaRPr lang="en-US"/>
        </a:p>
      </dgm:t>
    </dgm:pt>
    <dgm:pt modelId="{2088DEC4-62D9-482E-97AD-3CDA113D7D0C}">
      <dgm:prSet phldrT="[Text]"/>
      <dgm:spPr/>
      <dgm:t>
        <a:bodyPr/>
        <a:lstStyle/>
        <a:p>
          <a:r>
            <a:rPr lang="en-US" dirty="0" smtClean="0"/>
            <a:t>Balance</a:t>
          </a:r>
          <a:endParaRPr lang="en-US" dirty="0"/>
        </a:p>
      </dgm:t>
    </dgm:pt>
    <dgm:pt modelId="{BEA9AA4B-D278-4A00-8EEC-07414E0AE0CC}" type="parTrans" cxnId="{3BC308F2-63AD-4779-BDC1-BF1E79167017}">
      <dgm:prSet/>
      <dgm:spPr/>
      <dgm:t>
        <a:bodyPr/>
        <a:lstStyle/>
        <a:p>
          <a:endParaRPr lang="en-US"/>
        </a:p>
      </dgm:t>
    </dgm:pt>
    <dgm:pt modelId="{6057A9D6-4C26-4A15-A76A-5EB404FF21D6}" type="sibTrans" cxnId="{3BC308F2-63AD-4779-BDC1-BF1E79167017}">
      <dgm:prSet/>
      <dgm:spPr/>
      <dgm:t>
        <a:bodyPr/>
        <a:lstStyle/>
        <a:p>
          <a:endParaRPr lang="en-US"/>
        </a:p>
      </dgm:t>
    </dgm:pt>
    <dgm:pt modelId="{510B0DCE-1C75-4179-A44F-78840C983F81}">
      <dgm:prSet phldrT="[Text]"/>
      <dgm:spPr/>
      <dgm:t>
        <a:bodyPr/>
        <a:lstStyle/>
        <a:p>
          <a:r>
            <a:rPr lang="en-US" dirty="0" smtClean="0"/>
            <a:t>Train </a:t>
          </a:r>
          <a:endParaRPr lang="en-US" dirty="0"/>
        </a:p>
      </dgm:t>
    </dgm:pt>
    <dgm:pt modelId="{D8B50591-557D-43E8-B379-F49CB5EB3583}" type="parTrans" cxnId="{CE04317D-BE11-499E-BB5D-9BA7479FBE6A}">
      <dgm:prSet/>
      <dgm:spPr/>
      <dgm:t>
        <a:bodyPr/>
        <a:lstStyle/>
        <a:p>
          <a:endParaRPr lang="en-US"/>
        </a:p>
      </dgm:t>
    </dgm:pt>
    <dgm:pt modelId="{FE76DF7E-4420-48AA-A92F-E4C9D04074B0}" type="sibTrans" cxnId="{CE04317D-BE11-499E-BB5D-9BA7479FBE6A}">
      <dgm:prSet/>
      <dgm:spPr/>
      <dgm:t>
        <a:bodyPr/>
        <a:lstStyle/>
        <a:p>
          <a:endParaRPr lang="en-US"/>
        </a:p>
      </dgm:t>
    </dgm:pt>
    <dgm:pt modelId="{D8A5BE74-C0E5-414A-848B-981FEE02F075}">
      <dgm:prSet phldrT="[Text]"/>
      <dgm:spPr/>
      <dgm:t>
        <a:bodyPr/>
        <a:lstStyle/>
        <a:p>
          <a:r>
            <a:rPr lang="en-US" dirty="0" smtClean="0"/>
            <a:t>Evaluate</a:t>
          </a:r>
          <a:endParaRPr lang="en-US" dirty="0"/>
        </a:p>
      </dgm:t>
    </dgm:pt>
    <dgm:pt modelId="{F95DC174-3C4D-4F5C-BD06-F620799B6979}" type="parTrans" cxnId="{FEC548BC-435C-40CC-8D9C-7F08DE2597C0}">
      <dgm:prSet/>
      <dgm:spPr/>
      <dgm:t>
        <a:bodyPr/>
        <a:lstStyle/>
        <a:p>
          <a:endParaRPr lang="en-US"/>
        </a:p>
      </dgm:t>
    </dgm:pt>
    <dgm:pt modelId="{2EEC4A5E-4410-4668-A36E-9398EECA7EEE}" type="sibTrans" cxnId="{FEC548BC-435C-40CC-8D9C-7F08DE2597C0}">
      <dgm:prSet/>
      <dgm:spPr/>
      <dgm:t>
        <a:bodyPr/>
        <a:lstStyle/>
        <a:p>
          <a:endParaRPr lang="en-US"/>
        </a:p>
      </dgm:t>
    </dgm:pt>
    <dgm:pt modelId="{CCD2D3A7-C83F-44E0-917E-953E92F12232}" type="pres">
      <dgm:prSet presAssocID="{2D1E9876-3F1E-4C3C-966E-B8BCE0B14A45}" presName="Name0" presStyleCnt="0">
        <dgm:presLayoutVars>
          <dgm:dir/>
          <dgm:resizeHandles val="exact"/>
        </dgm:presLayoutVars>
      </dgm:prSet>
      <dgm:spPr/>
    </dgm:pt>
    <dgm:pt modelId="{570564F3-C57D-418E-B24E-FFBA30D22162}" type="pres">
      <dgm:prSet presAssocID="{19848C32-CABA-4C4B-985F-56B8B2F9A87C}" presName="node" presStyleLbl="node1" presStyleIdx="0" presStyleCnt="6">
        <dgm:presLayoutVars>
          <dgm:bulletEnabled val="1"/>
        </dgm:presLayoutVars>
      </dgm:prSet>
      <dgm:spPr/>
      <dgm:t>
        <a:bodyPr/>
        <a:lstStyle/>
        <a:p>
          <a:endParaRPr lang="en-US"/>
        </a:p>
      </dgm:t>
    </dgm:pt>
    <dgm:pt modelId="{6349BFF1-64F9-4A25-A437-FE78AAD24642}" type="pres">
      <dgm:prSet presAssocID="{8B20E435-79E0-46E3-974D-75CB4DD084D2}" presName="sibTrans" presStyleLbl="sibTrans2D1" presStyleIdx="0" presStyleCnt="5"/>
      <dgm:spPr/>
    </dgm:pt>
    <dgm:pt modelId="{DE046CD7-F97F-4CBB-AC54-A16C05E85805}" type="pres">
      <dgm:prSet presAssocID="{8B20E435-79E0-46E3-974D-75CB4DD084D2}" presName="connectorText" presStyleLbl="sibTrans2D1" presStyleIdx="0" presStyleCnt="5"/>
      <dgm:spPr/>
    </dgm:pt>
    <dgm:pt modelId="{73FDF069-857E-4287-8F14-9E9877F06AB5}" type="pres">
      <dgm:prSet presAssocID="{35DECCDE-E1C0-45FB-8B1F-5F6E2E24BEA6}" presName="node" presStyleLbl="node1" presStyleIdx="1" presStyleCnt="6">
        <dgm:presLayoutVars>
          <dgm:bulletEnabled val="1"/>
        </dgm:presLayoutVars>
      </dgm:prSet>
      <dgm:spPr/>
    </dgm:pt>
    <dgm:pt modelId="{614D2164-9736-4B5E-B76A-19AED34504E5}" type="pres">
      <dgm:prSet presAssocID="{5C129573-B5D2-4A24-9CF6-D4C9E79C62C1}" presName="sibTrans" presStyleLbl="sibTrans2D1" presStyleIdx="1" presStyleCnt="5"/>
      <dgm:spPr/>
    </dgm:pt>
    <dgm:pt modelId="{2C3A777B-CC2C-4820-87F0-EA9882206A10}" type="pres">
      <dgm:prSet presAssocID="{5C129573-B5D2-4A24-9CF6-D4C9E79C62C1}" presName="connectorText" presStyleLbl="sibTrans2D1" presStyleIdx="1" presStyleCnt="5"/>
      <dgm:spPr/>
    </dgm:pt>
    <dgm:pt modelId="{587329C1-FDA9-4124-98AF-7DEA1A5A675E}" type="pres">
      <dgm:prSet presAssocID="{77754712-B3F2-4302-BAF4-84B90D442E06}" presName="node" presStyleLbl="node1" presStyleIdx="2" presStyleCnt="6">
        <dgm:presLayoutVars>
          <dgm:bulletEnabled val="1"/>
        </dgm:presLayoutVars>
      </dgm:prSet>
      <dgm:spPr/>
      <dgm:t>
        <a:bodyPr/>
        <a:lstStyle/>
        <a:p>
          <a:endParaRPr lang="en-US"/>
        </a:p>
      </dgm:t>
    </dgm:pt>
    <dgm:pt modelId="{6C73E186-6BC4-4B48-949D-7FDAA18E3AB2}" type="pres">
      <dgm:prSet presAssocID="{4792396B-E529-4AE5-9BD6-B2B8D77BEF13}" presName="sibTrans" presStyleLbl="sibTrans2D1" presStyleIdx="2" presStyleCnt="5"/>
      <dgm:spPr/>
    </dgm:pt>
    <dgm:pt modelId="{2E9E8B69-5545-4B30-8BCB-A8F243FE0766}" type="pres">
      <dgm:prSet presAssocID="{4792396B-E529-4AE5-9BD6-B2B8D77BEF13}" presName="connectorText" presStyleLbl="sibTrans2D1" presStyleIdx="2" presStyleCnt="5"/>
      <dgm:spPr/>
    </dgm:pt>
    <dgm:pt modelId="{7123D944-A02B-4843-A4EE-3B69B5980564}" type="pres">
      <dgm:prSet presAssocID="{2088DEC4-62D9-482E-97AD-3CDA113D7D0C}" presName="node" presStyleLbl="node1" presStyleIdx="3" presStyleCnt="6">
        <dgm:presLayoutVars>
          <dgm:bulletEnabled val="1"/>
        </dgm:presLayoutVars>
      </dgm:prSet>
      <dgm:spPr/>
      <dgm:t>
        <a:bodyPr/>
        <a:lstStyle/>
        <a:p>
          <a:endParaRPr lang="en-US"/>
        </a:p>
      </dgm:t>
    </dgm:pt>
    <dgm:pt modelId="{7EC33D8B-9186-4AB8-9FC4-46C3FFFECD22}" type="pres">
      <dgm:prSet presAssocID="{6057A9D6-4C26-4A15-A76A-5EB404FF21D6}" presName="sibTrans" presStyleLbl="sibTrans2D1" presStyleIdx="3" presStyleCnt="5"/>
      <dgm:spPr/>
    </dgm:pt>
    <dgm:pt modelId="{3CF97DA6-B26C-4B9B-B785-579BCCA09BB3}" type="pres">
      <dgm:prSet presAssocID="{6057A9D6-4C26-4A15-A76A-5EB404FF21D6}" presName="connectorText" presStyleLbl="sibTrans2D1" presStyleIdx="3" presStyleCnt="5"/>
      <dgm:spPr/>
    </dgm:pt>
    <dgm:pt modelId="{A614A10D-C884-4D35-943F-C77D8E0EB6FB}" type="pres">
      <dgm:prSet presAssocID="{510B0DCE-1C75-4179-A44F-78840C983F81}" presName="node" presStyleLbl="node1" presStyleIdx="4" presStyleCnt="6">
        <dgm:presLayoutVars>
          <dgm:bulletEnabled val="1"/>
        </dgm:presLayoutVars>
      </dgm:prSet>
      <dgm:spPr/>
      <dgm:t>
        <a:bodyPr/>
        <a:lstStyle/>
        <a:p>
          <a:endParaRPr lang="en-US"/>
        </a:p>
      </dgm:t>
    </dgm:pt>
    <dgm:pt modelId="{954C1944-1A32-4B6A-8315-022335B3D731}" type="pres">
      <dgm:prSet presAssocID="{FE76DF7E-4420-48AA-A92F-E4C9D04074B0}" presName="sibTrans" presStyleLbl="sibTrans2D1" presStyleIdx="4" presStyleCnt="5"/>
      <dgm:spPr/>
    </dgm:pt>
    <dgm:pt modelId="{4D8D6D34-51A1-4AB8-A080-293D7265965B}" type="pres">
      <dgm:prSet presAssocID="{FE76DF7E-4420-48AA-A92F-E4C9D04074B0}" presName="connectorText" presStyleLbl="sibTrans2D1" presStyleIdx="4" presStyleCnt="5"/>
      <dgm:spPr/>
    </dgm:pt>
    <dgm:pt modelId="{DC7CA220-1F45-475F-81FE-F8671C8AD4BE}" type="pres">
      <dgm:prSet presAssocID="{D8A5BE74-C0E5-414A-848B-981FEE02F075}" presName="node" presStyleLbl="node1" presStyleIdx="5" presStyleCnt="6">
        <dgm:presLayoutVars>
          <dgm:bulletEnabled val="1"/>
        </dgm:presLayoutVars>
      </dgm:prSet>
      <dgm:spPr/>
    </dgm:pt>
  </dgm:ptLst>
  <dgm:cxnLst>
    <dgm:cxn modelId="{6F67D89B-DAA7-4DD5-AADB-24AD9E486C49}" type="presOf" srcId="{4792396B-E529-4AE5-9BD6-B2B8D77BEF13}" destId="{2E9E8B69-5545-4B30-8BCB-A8F243FE0766}" srcOrd="1" destOrd="0" presId="urn:microsoft.com/office/officeart/2005/8/layout/process1"/>
    <dgm:cxn modelId="{8E5C93DF-D951-4BD9-B781-C307F80C33D7}" type="presOf" srcId="{19848C32-CABA-4C4B-985F-56B8B2F9A87C}" destId="{570564F3-C57D-418E-B24E-FFBA30D22162}" srcOrd="0" destOrd="0" presId="urn:microsoft.com/office/officeart/2005/8/layout/process1"/>
    <dgm:cxn modelId="{FEC548BC-435C-40CC-8D9C-7F08DE2597C0}" srcId="{2D1E9876-3F1E-4C3C-966E-B8BCE0B14A45}" destId="{D8A5BE74-C0E5-414A-848B-981FEE02F075}" srcOrd="5" destOrd="0" parTransId="{F95DC174-3C4D-4F5C-BD06-F620799B6979}" sibTransId="{2EEC4A5E-4410-4668-A36E-9398EECA7EEE}"/>
    <dgm:cxn modelId="{290D13B7-37E1-4CCF-AD46-A9E624B6D5A7}" type="presOf" srcId="{2088DEC4-62D9-482E-97AD-3CDA113D7D0C}" destId="{7123D944-A02B-4843-A4EE-3B69B5980564}" srcOrd="0" destOrd="0" presId="urn:microsoft.com/office/officeart/2005/8/layout/process1"/>
    <dgm:cxn modelId="{DF0F58DD-8DE5-4E8E-9695-AF412008A511}" srcId="{2D1E9876-3F1E-4C3C-966E-B8BCE0B14A45}" destId="{19848C32-CABA-4C4B-985F-56B8B2F9A87C}" srcOrd="0" destOrd="0" parTransId="{A164A996-0D85-4FB6-BFEA-0EC7BA112CC8}" sibTransId="{8B20E435-79E0-46E3-974D-75CB4DD084D2}"/>
    <dgm:cxn modelId="{1FD12078-8A8A-4854-990B-97F7454D663A}" type="presOf" srcId="{FE76DF7E-4420-48AA-A92F-E4C9D04074B0}" destId="{954C1944-1A32-4B6A-8315-022335B3D731}" srcOrd="0" destOrd="0" presId="urn:microsoft.com/office/officeart/2005/8/layout/process1"/>
    <dgm:cxn modelId="{AE37A6EA-B3FB-4FB0-964E-8A77508F2427}" type="presOf" srcId="{6057A9D6-4C26-4A15-A76A-5EB404FF21D6}" destId="{3CF97DA6-B26C-4B9B-B785-579BCCA09BB3}" srcOrd="1" destOrd="0" presId="urn:microsoft.com/office/officeart/2005/8/layout/process1"/>
    <dgm:cxn modelId="{0A1AD23D-6D22-4CA2-A77B-261003F9BDE0}" type="presOf" srcId="{5C129573-B5D2-4A24-9CF6-D4C9E79C62C1}" destId="{2C3A777B-CC2C-4820-87F0-EA9882206A10}" srcOrd="1" destOrd="0" presId="urn:microsoft.com/office/officeart/2005/8/layout/process1"/>
    <dgm:cxn modelId="{9831CD41-98D9-440B-911A-BF7923F77B80}" type="presOf" srcId="{FE76DF7E-4420-48AA-A92F-E4C9D04074B0}" destId="{4D8D6D34-51A1-4AB8-A080-293D7265965B}" srcOrd="1" destOrd="0" presId="urn:microsoft.com/office/officeart/2005/8/layout/process1"/>
    <dgm:cxn modelId="{B7006E0F-D9DD-4AB5-9CC6-AE7ED80F0482}" type="presOf" srcId="{35DECCDE-E1C0-45FB-8B1F-5F6E2E24BEA6}" destId="{73FDF069-857E-4287-8F14-9E9877F06AB5}" srcOrd="0" destOrd="0" presId="urn:microsoft.com/office/officeart/2005/8/layout/process1"/>
    <dgm:cxn modelId="{0853D2DC-B623-4841-A81D-3E045370225D}" srcId="{2D1E9876-3F1E-4C3C-966E-B8BCE0B14A45}" destId="{77754712-B3F2-4302-BAF4-84B90D442E06}" srcOrd="2" destOrd="0" parTransId="{86D4498D-0D57-4B28-B92D-D33E6AC89AB3}" sibTransId="{4792396B-E529-4AE5-9BD6-B2B8D77BEF13}"/>
    <dgm:cxn modelId="{324A1B0B-49AE-42B1-BA02-7083C4372BB1}" type="presOf" srcId="{6057A9D6-4C26-4A15-A76A-5EB404FF21D6}" destId="{7EC33D8B-9186-4AB8-9FC4-46C3FFFECD22}" srcOrd="0" destOrd="0" presId="urn:microsoft.com/office/officeart/2005/8/layout/process1"/>
    <dgm:cxn modelId="{2F5BE6D5-DE53-453A-9777-A900C6A43900}" srcId="{2D1E9876-3F1E-4C3C-966E-B8BCE0B14A45}" destId="{35DECCDE-E1C0-45FB-8B1F-5F6E2E24BEA6}" srcOrd="1" destOrd="0" parTransId="{C95345DC-BEFF-4C8D-B3AF-73E4A2FDECC1}" sibTransId="{5C129573-B5D2-4A24-9CF6-D4C9E79C62C1}"/>
    <dgm:cxn modelId="{798D1AD9-372D-4C9C-B1EF-D7DF193FD154}" type="presOf" srcId="{8B20E435-79E0-46E3-974D-75CB4DD084D2}" destId="{DE046CD7-F97F-4CBB-AC54-A16C05E85805}" srcOrd="1" destOrd="0" presId="urn:microsoft.com/office/officeart/2005/8/layout/process1"/>
    <dgm:cxn modelId="{25A21BE6-503B-4C46-B6B9-F70963A12D7A}" type="presOf" srcId="{2D1E9876-3F1E-4C3C-966E-B8BCE0B14A45}" destId="{CCD2D3A7-C83F-44E0-917E-953E92F12232}" srcOrd="0" destOrd="0" presId="urn:microsoft.com/office/officeart/2005/8/layout/process1"/>
    <dgm:cxn modelId="{CB392971-99A1-4E4F-A168-BF3568F153E0}" type="presOf" srcId="{D8A5BE74-C0E5-414A-848B-981FEE02F075}" destId="{DC7CA220-1F45-475F-81FE-F8671C8AD4BE}" srcOrd="0" destOrd="0" presId="urn:microsoft.com/office/officeart/2005/8/layout/process1"/>
    <dgm:cxn modelId="{3BC308F2-63AD-4779-BDC1-BF1E79167017}" srcId="{2D1E9876-3F1E-4C3C-966E-B8BCE0B14A45}" destId="{2088DEC4-62D9-482E-97AD-3CDA113D7D0C}" srcOrd="3" destOrd="0" parTransId="{BEA9AA4B-D278-4A00-8EEC-07414E0AE0CC}" sibTransId="{6057A9D6-4C26-4A15-A76A-5EB404FF21D6}"/>
    <dgm:cxn modelId="{E1491818-5035-4E20-A31D-5212C1F3F216}" type="presOf" srcId="{5C129573-B5D2-4A24-9CF6-D4C9E79C62C1}" destId="{614D2164-9736-4B5E-B76A-19AED34504E5}" srcOrd="0" destOrd="0" presId="urn:microsoft.com/office/officeart/2005/8/layout/process1"/>
    <dgm:cxn modelId="{2EE98A80-7583-4AAE-995B-444A18E07D5F}" type="presOf" srcId="{510B0DCE-1C75-4179-A44F-78840C983F81}" destId="{A614A10D-C884-4D35-943F-C77D8E0EB6FB}" srcOrd="0" destOrd="0" presId="urn:microsoft.com/office/officeart/2005/8/layout/process1"/>
    <dgm:cxn modelId="{4673F3BD-D00A-4131-B925-CB5C3D8314D8}" type="presOf" srcId="{77754712-B3F2-4302-BAF4-84B90D442E06}" destId="{587329C1-FDA9-4124-98AF-7DEA1A5A675E}" srcOrd="0" destOrd="0" presId="urn:microsoft.com/office/officeart/2005/8/layout/process1"/>
    <dgm:cxn modelId="{CE04317D-BE11-499E-BB5D-9BA7479FBE6A}" srcId="{2D1E9876-3F1E-4C3C-966E-B8BCE0B14A45}" destId="{510B0DCE-1C75-4179-A44F-78840C983F81}" srcOrd="4" destOrd="0" parTransId="{D8B50591-557D-43E8-B379-F49CB5EB3583}" sibTransId="{FE76DF7E-4420-48AA-A92F-E4C9D04074B0}"/>
    <dgm:cxn modelId="{54E2649C-6265-4083-82C7-0344B155C957}" type="presOf" srcId="{4792396B-E529-4AE5-9BD6-B2B8D77BEF13}" destId="{6C73E186-6BC4-4B48-949D-7FDAA18E3AB2}" srcOrd="0" destOrd="0" presId="urn:microsoft.com/office/officeart/2005/8/layout/process1"/>
    <dgm:cxn modelId="{75B43DC9-18B7-4010-A4B7-0FF0725149EA}" type="presOf" srcId="{8B20E435-79E0-46E3-974D-75CB4DD084D2}" destId="{6349BFF1-64F9-4A25-A437-FE78AAD24642}" srcOrd="0" destOrd="0" presId="urn:microsoft.com/office/officeart/2005/8/layout/process1"/>
    <dgm:cxn modelId="{DA058810-E620-4549-8A76-2114CD45B47E}" type="presParOf" srcId="{CCD2D3A7-C83F-44E0-917E-953E92F12232}" destId="{570564F3-C57D-418E-B24E-FFBA30D22162}" srcOrd="0" destOrd="0" presId="urn:microsoft.com/office/officeart/2005/8/layout/process1"/>
    <dgm:cxn modelId="{0B6CBDD1-4BD2-4ED9-9E19-E19B75629AD5}" type="presParOf" srcId="{CCD2D3A7-C83F-44E0-917E-953E92F12232}" destId="{6349BFF1-64F9-4A25-A437-FE78AAD24642}" srcOrd="1" destOrd="0" presId="urn:microsoft.com/office/officeart/2005/8/layout/process1"/>
    <dgm:cxn modelId="{098BD255-FA3A-42B4-9349-43338FFC786C}" type="presParOf" srcId="{6349BFF1-64F9-4A25-A437-FE78AAD24642}" destId="{DE046CD7-F97F-4CBB-AC54-A16C05E85805}" srcOrd="0" destOrd="0" presId="urn:microsoft.com/office/officeart/2005/8/layout/process1"/>
    <dgm:cxn modelId="{0481FC0C-1437-42D0-AD3B-1AFD75162014}" type="presParOf" srcId="{CCD2D3A7-C83F-44E0-917E-953E92F12232}" destId="{73FDF069-857E-4287-8F14-9E9877F06AB5}" srcOrd="2" destOrd="0" presId="urn:microsoft.com/office/officeart/2005/8/layout/process1"/>
    <dgm:cxn modelId="{2F46B633-3A8E-4464-B482-207CB52A5893}" type="presParOf" srcId="{CCD2D3A7-C83F-44E0-917E-953E92F12232}" destId="{614D2164-9736-4B5E-B76A-19AED34504E5}" srcOrd="3" destOrd="0" presId="urn:microsoft.com/office/officeart/2005/8/layout/process1"/>
    <dgm:cxn modelId="{E5F15355-62E9-47CA-942D-6ADB2AE140A5}" type="presParOf" srcId="{614D2164-9736-4B5E-B76A-19AED34504E5}" destId="{2C3A777B-CC2C-4820-87F0-EA9882206A10}" srcOrd="0" destOrd="0" presId="urn:microsoft.com/office/officeart/2005/8/layout/process1"/>
    <dgm:cxn modelId="{821A66FA-4279-4872-AC82-3B945EA48ABA}" type="presParOf" srcId="{CCD2D3A7-C83F-44E0-917E-953E92F12232}" destId="{587329C1-FDA9-4124-98AF-7DEA1A5A675E}" srcOrd="4" destOrd="0" presId="urn:microsoft.com/office/officeart/2005/8/layout/process1"/>
    <dgm:cxn modelId="{34ABD6BC-B8B3-4B55-9E7A-37C205FCD657}" type="presParOf" srcId="{CCD2D3A7-C83F-44E0-917E-953E92F12232}" destId="{6C73E186-6BC4-4B48-949D-7FDAA18E3AB2}" srcOrd="5" destOrd="0" presId="urn:microsoft.com/office/officeart/2005/8/layout/process1"/>
    <dgm:cxn modelId="{F33C0F76-1796-4BFD-AB47-FE955168A444}" type="presParOf" srcId="{6C73E186-6BC4-4B48-949D-7FDAA18E3AB2}" destId="{2E9E8B69-5545-4B30-8BCB-A8F243FE0766}" srcOrd="0" destOrd="0" presId="urn:microsoft.com/office/officeart/2005/8/layout/process1"/>
    <dgm:cxn modelId="{704DA4A1-92A1-4823-A5B1-E29021241AA2}" type="presParOf" srcId="{CCD2D3A7-C83F-44E0-917E-953E92F12232}" destId="{7123D944-A02B-4843-A4EE-3B69B5980564}" srcOrd="6" destOrd="0" presId="urn:microsoft.com/office/officeart/2005/8/layout/process1"/>
    <dgm:cxn modelId="{86359A9A-6366-4DB7-B45E-6C88303D4CE2}" type="presParOf" srcId="{CCD2D3A7-C83F-44E0-917E-953E92F12232}" destId="{7EC33D8B-9186-4AB8-9FC4-46C3FFFECD22}" srcOrd="7" destOrd="0" presId="urn:microsoft.com/office/officeart/2005/8/layout/process1"/>
    <dgm:cxn modelId="{2AEF3AFD-FADD-4E09-9936-9639F10469A7}" type="presParOf" srcId="{7EC33D8B-9186-4AB8-9FC4-46C3FFFECD22}" destId="{3CF97DA6-B26C-4B9B-B785-579BCCA09BB3}" srcOrd="0" destOrd="0" presId="urn:microsoft.com/office/officeart/2005/8/layout/process1"/>
    <dgm:cxn modelId="{44183531-2C6E-42EE-AB26-EE08C5B3B71B}" type="presParOf" srcId="{CCD2D3A7-C83F-44E0-917E-953E92F12232}" destId="{A614A10D-C884-4D35-943F-C77D8E0EB6FB}" srcOrd="8" destOrd="0" presId="urn:microsoft.com/office/officeart/2005/8/layout/process1"/>
    <dgm:cxn modelId="{5F16C974-6E61-4A5E-AD35-F0B31C7EEA21}" type="presParOf" srcId="{CCD2D3A7-C83F-44E0-917E-953E92F12232}" destId="{954C1944-1A32-4B6A-8315-022335B3D731}" srcOrd="9" destOrd="0" presId="urn:microsoft.com/office/officeart/2005/8/layout/process1"/>
    <dgm:cxn modelId="{3BF1A1DF-FD5C-442A-B580-BEB7267490B0}" type="presParOf" srcId="{954C1944-1A32-4B6A-8315-022335B3D731}" destId="{4D8D6D34-51A1-4AB8-A080-293D7265965B}" srcOrd="0" destOrd="0" presId="urn:microsoft.com/office/officeart/2005/8/layout/process1"/>
    <dgm:cxn modelId="{8B31D4C7-6831-453A-BDA2-3595E1CC9BC3}" type="presParOf" srcId="{CCD2D3A7-C83F-44E0-917E-953E92F12232}" destId="{DC7CA220-1F45-475F-81FE-F8671C8AD4B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564F3-C57D-418E-B24E-FFBA30D22162}">
      <dsp:nvSpPr>
        <dsp:cNvPr id="0" name=""/>
        <dsp:cNvSpPr/>
      </dsp:nvSpPr>
      <dsp:spPr>
        <a:xfrm>
          <a:off x="0"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Data</a:t>
          </a:r>
          <a:endParaRPr lang="en-US" sz="1200" kern="1200" dirty="0"/>
        </a:p>
      </dsp:txBody>
      <dsp:txXfrm>
        <a:off x="12073" y="1688993"/>
        <a:ext cx="662869" cy="388063"/>
      </dsp:txXfrm>
    </dsp:sp>
    <dsp:sp modelId="{6349BFF1-64F9-4A25-A437-FE78AAD24642}">
      <dsp:nvSpPr>
        <dsp:cNvPr id="0" name=""/>
        <dsp:cNvSpPr/>
      </dsp:nvSpPr>
      <dsp:spPr>
        <a:xfrm>
          <a:off x="755717" y="1797835"/>
          <a:ext cx="145647" cy="17037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755717" y="1831911"/>
        <a:ext cx="101953" cy="102227"/>
      </dsp:txXfrm>
    </dsp:sp>
    <dsp:sp modelId="{73FDF069-857E-4287-8F14-9E9877F06AB5}">
      <dsp:nvSpPr>
        <dsp:cNvPr id="0" name=""/>
        <dsp:cNvSpPr/>
      </dsp:nvSpPr>
      <dsp:spPr>
        <a:xfrm>
          <a:off x="961822"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Clean</a:t>
          </a:r>
          <a:endParaRPr lang="en-US" sz="1200" kern="1200" dirty="0"/>
        </a:p>
      </dsp:txBody>
      <dsp:txXfrm>
        <a:off x="973895" y="1688993"/>
        <a:ext cx="662869" cy="388063"/>
      </dsp:txXfrm>
    </dsp:sp>
    <dsp:sp modelId="{614D2164-9736-4B5E-B76A-19AED34504E5}">
      <dsp:nvSpPr>
        <dsp:cNvPr id="0" name=""/>
        <dsp:cNvSpPr/>
      </dsp:nvSpPr>
      <dsp:spPr>
        <a:xfrm>
          <a:off x="1717539" y="1797835"/>
          <a:ext cx="145647" cy="17037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1717539" y="1831911"/>
        <a:ext cx="101953" cy="102227"/>
      </dsp:txXfrm>
    </dsp:sp>
    <dsp:sp modelId="{587329C1-FDA9-4124-98AF-7DEA1A5A675E}">
      <dsp:nvSpPr>
        <dsp:cNvPr id="0" name=""/>
        <dsp:cNvSpPr/>
      </dsp:nvSpPr>
      <dsp:spPr>
        <a:xfrm>
          <a:off x="1923644"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Engineer</a:t>
          </a:r>
          <a:endParaRPr lang="en-US" sz="1200" kern="1200" dirty="0"/>
        </a:p>
      </dsp:txBody>
      <dsp:txXfrm>
        <a:off x="1935717" y="1688993"/>
        <a:ext cx="662869" cy="388063"/>
      </dsp:txXfrm>
    </dsp:sp>
    <dsp:sp modelId="{6C73E186-6BC4-4B48-949D-7FDAA18E3AB2}">
      <dsp:nvSpPr>
        <dsp:cNvPr id="0" name=""/>
        <dsp:cNvSpPr/>
      </dsp:nvSpPr>
      <dsp:spPr>
        <a:xfrm>
          <a:off x="2679361" y="1797835"/>
          <a:ext cx="145647" cy="17037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2679361" y="1831911"/>
        <a:ext cx="101953" cy="102227"/>
      </dsp:txXfrm>
    </dsp:sp>
    <dsp:sp modelId="{7123D944-A02B-4843-A4EE-3B69B5980564}">
      <dsp:nvSpPr>
        <dsp:cNvPr id="0" name=""/>
        <dsp:cNvSpPr/>
      </dsp:nvSpPr>
      <dsp:spPr>
        <a:xfrm>
          <a:off x="2885466"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Balance</a:t>
          </a:r>
          <a:endParaRPr lang="en-US" sz="1200" kern="1200" dirty="0"/>
        </a:p>
      </dsp:txBody>
      <dsp:txXfrm>
        <a:off x="2897539" y="1688993"/>
        <a:ext cx="662869" cy="388063"/>
      </dsp:txXfrm>
    </dsp:sp>
    <dsp:sp modelId="{7EC33D8B-9186-4AB8-9FC4-46C3FFFECD22}">
      <dsp:nvSpPr>
        <dsp:cNvPr id="0" name=""/>
        <dsp:cNvSpPr/>
      </dsp:nvSpPr>
      <dsp:spPr>
        <a:xfrm>
          <a:off x="3641183" y="1797835"/>
          <a:ext cx="145647" cy="17037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3641183" y="1831911"/>
        <a:ext cx="101953" cy="102227"/>
      </dsp:txXfrm>
    </dsp:sp>
    <dsp:sp modelId="{A614A10D-C884-4D35-943F-C77D8E0EB6FB}">
      <dsp:nvSpPr>
        <dsp:cNvPr id="0" name=""/>
        <dsp:cNvSpPr/>
      </dsp:nvSpPr>
      <dsp:spPr>
        <a:xfrm>
          <a:off x="3847288"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Train </a:t>
          </a:r>
          <a:endParaRPr lang="en-US" sz="1200" kern="1200" dirty="0"/>
        </a:p>
      </dsp:txBody>
      <dsp:txXfrm>
        <a:off x="3859361" y="1688993"/>
        <a:ext cx="662869" cy="388063"/>
      </dsp:txXfrm>
    </dsp:sp>
    <dsp:sp modelId="{954C1944-1A32-4B6A-8315-022335B3D731}">
      <dsp:nvSpPr>
        <dsp:cNvPr id="0" name=""/>
        <dsp:cNvSpPr/>
      </dsp:nvSpPr>
      <dsp:spPr>
        <a:xfrm>
          <a:off x="4603005" y="1797835"/>
          <a:ext cx="145647" cy="170379"/>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4603005" y="1831911"/>
        <a:ext cx="101953" cy="102227"/>
      </dsp:txXfrm>
    </dsp:sp>
    <dsp:sp modelId="{DC7CA220-1F45-475F-81FE-F8671C8AD4BE}">
      <dsp:nvSpPr>
        <dsp:cNvPr id="0" name=""/>
        <dsp:cNvSpPr/>
      </dsp:nvSpPr>
      <dsp:spPr>
        <a:xfrm>
          <a:off x="4809110" y="1676920"/>
          <a:ext cx="687015" cy="4122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4821183" y="1688993"/>
        <a:ext cx="662869" cy="3880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04-02-2026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2192225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255963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dirty="0"/>
          </a:p>
        </p:txBody>
      </p:sp>
    </p:spTree>
    <p:extLst>
      <p:ext uri="{BB962C8B-B14F-4D97-AF65-F5344CB8AC3E}">
        <p14:creationId xmlns:p14="http://schemas.microsoft.com/office/powerpoint/2010/main" val="3703256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2885861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dirty="0"/>
          </a:p>
        </p:txBody>
      </p:sp>
    </p:spTree>
    <p:extLst>
      <p:ext uri="{BB962C8B-B14F-4D97-AF65-F5344CB8AC3E}">
        <p14:creationId xmlns:p14="http://schemas.microsoft.com/office/powerpoint/2010/main" val="2544424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dirty="0"/>
          </a:p>
        </p:txBody>
      </p:sp>
    </p:spTree>
    <p:extLst>
      <p:ext uri="{BB962C8B-B14F-4D97-AF65-F5344CB8AC3E}">
        <p14:creationId xmlns:p14="http://schemas.microsoft.com/office/powerpoint/2010/main" val="169656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dirty="0"/>
          </a:p>
        </p:txBody>
      </p:sp>
    </p:spTree>
    <p:extLst>
      <p:ext uri="{BB962C8B-B14F-4D97-AF65-F5344CB8AC3E}">
        <p14:creationId xmlns:p14="http://schemas.microsoft.com/office/powerpoint/2010/main" val="3050693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dirty="0"/>
          </a:p>
        </p:txBody>
      </p:sp>
    </p:spTree>
    <p:extLst>
      <p:ext uri="{BB962C8B-B14F-4D97-AF65-F5344CB8AC3E}">
        <p14:creationId xmlns:p14="http://schemas.microsoft.com/office/powerpoint/2010/main" val="3901528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artisticCrisscrossEtching trans="50000" pressure="0"/>
                    </a14:imgEffect>
                  </a14:imgLayer>
                </a14:imgProps>
              </a:ext>
              <a:ext uri="{28A0092B-C50C-407E-A947-70E740481C1C}">
                <a14:useLocalDpi xmlns:a14="http://schemas.microsoft.com/office/drawing/2010/main" val="0"/>
              </a:ext>
            </a:extLst>
          </a:blip>
          <a:stretch>
            <a:fillRect/>
          </a:stretch>
        </p:blipFill>
        <p:spPr>
          <a:xfrm>
            <a:off x="-87548" y="-872248"/>
            <a:ext cx="12490314" cy="8326876"/>
          </a:xfrm>
          <a:prstGeom prst="rect">
            <a:avLst/>
          </a:prstGeom>
        </p:spPr>
      </p:pic>
      <p:sp>
        <p:nvSpPr>
          <p:cNvPr id="2" name="Rectangle 1">
            <a:extLst>
              <a:ext uri="{FF2B5EF4-FFF2-40B4-BE49-F238E27FC236}">
                <a16:creationId xmlns:a16="http://schemas.microsoft.com/office/drawing/2014/main" id="{1A225F15-9B21-01FF-BD6D-D04F30F7A091}"/>
              </a:ext>
            </a:extLst>
          </p:cNvPr>
          <p:cNvSpPr/>
          <p:nvPr/>
        </p:nvSpPr>
        <p:spPr>
          <a:xfrm>
            <a:off x="61609" y="3029941"/>
            <a:ext cx="12192000" cy="13654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dirty="0" smtClean="0">
                <a:solidFill>
                  <a:schemeClr val="bg2">
                    <a:lumMod val="10000"/>
                  </a:schemeClr>
                </a:solidFill>
              </a:rPr>
              <a:t>Using </a:t>
            </a:r>
            <a:r>
              <a:rPr lang="en-US" sz="4400" dirty="0">
                <a:solidFill>
                  <a:schemeClr val="bg2">
                    <a:lumMod val="10000"/>
                  </a:schemeClr>
                </a:solidFill>
              </a:rPr>
              <a:t>Machine Learning to </a:t>
            </a:r>
            <a:r>
              <a:rPr lang="en-US" sz="4400" dirty="0" smtClean="0">
                <a:solidFill>
                  <a:schemeClr val="bg2">
                    <a:lumMod val="10000"/>
                  </a:schemeClr>
                </a:solidFill>
              </a:rPr>
              <a:t>Predict</a:t>
            </a:r>
          </a:p>
          <a:p>
            <a:pPr algn="r"/>
            <a:r>
              <a:rPr lang="en-US" sz="4400" dirty="0" smtClean="0">
                <a:solidFill>
                  <a:schemeClr val="bg2">
                    <a:lumMod val="10000"/>
                  </a:schemeClr>
                </a:solidFill>
              </a:rPr>
              <a:t> </a:t>
            </a:r>
            <a:r>
              <a:rPr lang="en-US" sz="4400" dirty="0">
                <a:solidFill>
                  <a:schemeClr val="bg2">
                    <a:lumMod val="10000"/>
                  </a:schemeClr>
                </a:solidFill>
              </a:rPr>
              <a:t>Fatal vs Injured Crash Outcomes </a:t>
            </a:r>
            <a:endParaRPr lang="en-US" sz="4400" b="1" dirty="0">
              <a:solidFill>
                <a:schemeClr val="bg2">
                  <a:lumMod val="10000"/>
                </a:schemeClr>
              </a:solidFill>
              <a:latin typeface="Calibri" panose="020F0502020204030204" pitchFamily="34" charset="0"/>
            </a:endParaRPr>
          </a:p>
        </p:txBody>
      </p:sp>
      <p:sp>
        <p:nvSpPr>
          <p:cNvPr id="3" name="TextBox 2"/>
          <p:cNvSpPr txBox="1"/>
          <p:nvPr/>
        </p:nvSpPr>
        <p:spPr>
          <a:xfrm>
            <a:off x="8686801" y="6050603"/>
            <a:ext cx="3638146" cy="461665"/>
          </a:xfrm>
          <a:prstGeom prst="rect">
            <a:avLst/>
          </a:prstGeom>
          <a:noFill/>
        </p:spPr>
        <p:txBody>
          <a:bodyPr wrap="square" rtlCol="0">
            <a:spAutoFit/>
          </a:bodyPr>
          <a:lstStyle/>
          <a:p>
            <a:r>
              <a:rPr lang="en-US" sz="2400" dirty="0" smtClean="0">
                <a:solidFill>
                  <a:srgbClr val="333F50"/>
                </a:solidFill>
                <a:latin typeface="Algerian" panose="04020705040A02060702" pitchFamily="82" charset="0"/>
              </a:rPr>
              <a:t>By : Afeef </a:t>
            </a:r>
            <a:r>
              <a:rPr lang="en-US" sz="2400" dirty="0" err="1" smtClean="0">
                <a:solidFill>
                  <a:srgbClr val="333F50"/>
                </a:solidFill>
                <a:latin typeface="Algerian" panose="04020705040A02060702" pitchFamily="82" charset="0"/>
              </a:rPr>
              <a:t>Anver</a:t>
            </a:r>
            <a:r>
              <a:rPr lang="en-US" sz="2400" dirty="0" smtClean="0">
                <a:solidFill>
                  <a:srgbClr val="333F50"/>
                </a:solidFill>
                <a:latin typeface="Algerian" panose="04020705040A02060702" pitchFamily="82" charset="0"/>
              </a:rPr>
              <a:t> </a:t>
            </a:r>
            <a:r>
              <a:rPr lang="en-US" sz="2400" dirty="0" err="1" smtClean="0">
                <a:solidFill>
                  <a:srgbClr val="333F50"/>
                </a:solidFill>
                <a:latin typeface="Algerian" panose="04020705040A02060702" pitchFamily="82" charset="0"/>
              </a:rPr>
              <a:t>Sha</a:t>
            </a:r>
            <a:endParaRPr lang="en-US" sz="2400" dirty="0">
              <a:solidFill>
                <a:srgbClr val="333F50"/>
              </a:solidFill>
              <a:latin typeface="Algerian" panose="04020705040A02060702" pitchFamily="82"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3651" y="739229"/>
            <a:ext cx="5387916" cy="1361946"/>
          </a:xfrm>
          <a:prstGeom prst="rect">
            <a:avLst/>
          </a:prstGeom>
        </p:spPr>
      </p:pic>
    </p:spTree>
    <p:extLst>
      <p:ext uri="{BB962C8B-B14F-4D97-AF65-F5344CB8AC3E}">
        <p14:creationId xmlns:p14="http://schemas.microsoft.com/office/powerpoint/2010/main" val="1024334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676605" y="556532"/>
            <a:ext cx="5107239" cy="612775"/>
          </a:xfrm>
        </p:spPr>
        <p:txBody>
          <a:bodyPr/>
          <a:lstStyle/>
          <a:p>
            <a:pPr algn="ctr"/>
            <a:r>
              <a:rPr lang="en-IN" dirty="0" smtClean="0">
                <a:latin typeface="Segoe UI Semibold" panose="020B0702040204020203" pitchFamily="34" charset="0"/>
                <a:cs typeface="Segoe UI Semibold" panose="020B0702040204020203" pitchFamily="34" charset="0"/>
              </a:rPr>
              <a:t>TABLE OF </a:t>
            </a:r>
            <a:r>
              <a:rPr lang="en-IN" dirty="0" smtClean="0">
                <a:solidFill>
                  <a:schemeClr val="bg1">
                    <a:lumMod val="95000"/>
                  </a:schemeClr>
                </a:solidFill>
                <a:latin typeface="Segoe UI Semibold" panose="020B0702040204020203" pitchFamily="34" charset="0"/>
                <a:cs typeface="Segoe UI Semibold" panose="020B0702040204020203" pitchFamily="34" charset="0"/>
              </a:rPr>
              <a:t>CONTENTS</a:t>
            </a:r>
            <a:endParaRPr lang="en-IN" dirty="0">
              <a:solidFill>
                <a:schemeClr val="bg1">
                  <a:lumMod val="95000"/>
                </a:schemeClr>
              </a:solidFill>
              <a:latin typeface="Segoe UI Semibold" panose="020B0702040204020203" pitchFamily="34" charset="0"/>
              <a:cs typeface="Segoe UI Semibold" panose="020B0702040204020203" pitchFamily="34" charset="0"/>
            </a:endParaRP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r>
              <a:rPr lang="en-IN" dirty="0" smtClean="0">
                <a:latin typeface="Bahnschrift" panose="020B0502040204020203" pitchFamily="34" charset="0"/>
                <a:ea typeface="Roboto" panose="02000000000000000000" pitchFamily="2" charset="0"/>
                <a:cs typeface="Roboto" panose="02000000000000000000" pitchFamily="2" charset="0"/>
              </a:rPr>
              <a:t>Project Overview</a:t>
            </a:r>
          </a:p>
          <a:p>
            <a:r>
              <a:rPr lang="en-IN" dirty="0" smtClean="0">
                <a:latin typeface="Bahnschrift" panose="020B0502040204020203" pitchFamily="34" charset="0"/>
                <a:ea typeface="Roboto" panose="02000000000000000000" pitchFamily="2" charset="0"/>
                <a:cs typeface="Roboto" panose="02000000000000000000" pitchFamily="2" charset="0"/>
              </a:rPr>
              <a:t>Dataset Description</a:t>
            </a:r>
          </a:p>
          <a:p>
            <a:r>
              <a:rPr lang="en-US" dirty="0">
                <a:latin typeface="Bahnschrift" panose="020B0502040204020203" pitchFamily="34" charset="0"/>
              </a:rPr>
              <a:t>Fraud Data </a:t>
            </a:r>
            <a:r>
              <a:rPr lang="en-US" dirty="0" smtClean="0">
                <a:latin typeface="Bahnschrift" panose="020B0502040204020203" pitchFamily="34" charset="0"/>
              </a:rPr>
              <a:t>Characteristics</a:t>
            </a:r>
          </a:p>
          <a:p>
            <a:r>
              <a:rPr lang="en-US" dirty="0">
                <a:latin typeface="Bahnschrift" panose="020B0502040204020203" pitchFamily="34" charset="0"/>
              </a:rPr>
              <a:t>Exploratory Data Analysis (EDA)</a:t>
            </a:r>
            <a:endParaRPr lang="en-US" dirty="0" smtClean="0">
              <a:latin typeface="Bahnschrift" panose="020B0502040204020203" pitchFamily="34" charset="0"/>
            </a:endParaRPr>
          </a:p>
          <a:p>
            <a:r>
              <a:rPr lang="en-IN" dirty="0" err="1" smtClean="0">
                <a:latin typeface="Bahnschrift" panose="020B0502040204020203" pitchFamily="34" charset="0"/>
                <a:ea typeface="Roboto" panose="02000000000000000000" pitchFamily="2" charset="0"/>
                <a:cs typeface="Roboto" panose="02000000000000000000" pitchFamily="2" charset="0"/>
              </a:rPr>
              <a:t>PreProcessing</a:t>
            </a:r>
            <a:r>
              <a:rPr lang="en-IN" dirty="0" smtClean="0">
                <a:latin typeface="Bahnschrift" panose="020B0502040204020203" pitchFamily="34" charset="0"/>
                <a:ea typeface="Roboto" panose="02000000000000000000" pitchFamily="2" charset="0"/>
                <a:cs typeface="Roboto" panose="02000000000000000000" pitchFamily="2" charset="0"/>
              </a:rPr>
              <a:t> Steps</a:t>
            </a:r>
          </a:p>
          <a:p>
            <a:r>
              <a:rPr lang="en-IN" dirty="0" smtClean="0">
                <a:latin typeface="Bahnschrift" panose="020B0502040204020203" pitchFamily="34" charset="0"/>
                <a:ea typeface="Roboto" panose="02000000000000000000" pitchFamily="2" charset="0"/>
                <a:cs typeface="Roboto" panose="02000000000000000000" pitchFamily="2" charset="0"/>
              </a:rPr>
              <a:t>Feature Engineering Summary</a:t>
            </a:r>
          </a:p>
          <a:p>
            <a:endParaRPr lang="en-IN" dirty="0" smtClean="0">
              <a:latin typeface="Bahnschrift" panose="020B0502040204020203" pitchFamily="34" charset="0"/>
              <a:ea typeface="Roboto" panose="02000000000000000000" pitchFamily="2" charset="0"/>
              <a:cs typeface="Roboto" panose="02000000000000000000" pitchFamily="2" charset="0"/>
            </a:endParaRPr>
          </a:p>
          <a:p>
            <a:endParaRPr lang="en-IN" dirty="0">
              <a:latin typeface="Bahnschrift" panose="020B0502040204020203" pitchFamily="34" charset="0"/>
              <a:ea typeface="Roboto" panose="02000000000000000000" pitchFamily="2" charset="0"/>
              <a:cs typeface="Roboto" panose="02000000000000000000" pitchFamily="2" charset="0"/>
            </a:endParaRPr>
          </a:p>
        </p:txBody>
      </p:sp>
      <p:sp>
        <p:nvSpPr>
          <p:cNvPr id="6" name="Content Placeholder 4">
            <a:extLst>
              <a:ext uri="{FF2B5EF4-FFF2-40B4-BE49-F238E27FC236}">
                <a16:creationId xmlns:a16="http://schemas.microsoft.com/office/drawing/2014/main" id="{911E276C-DF85-3591-E888-F5B1B9B1522C}"/>
              </a:ext>
            </a:extLst>
          </p:cNvPr>
          <p:cNvSpPr txBox="1">
            <a:spLocks/>
          </p:cNvSpPr>
          <p:nvPr/>
        </p:nvSpPr>
        <p:spPr>
          <a:xfrm>
            <a:off x="6405230" y="1659836"/>
            <a:ext cx="5107239" cy="43980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Models Evaluated</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Best Model</a:t>
            </a:r>
          </a:p>
          <a:p>
            <a:r>
              <a:rPr lang="en-US" dirty="0" smtClean="0">
                <a:solidFill>
                  <a:schemeClr val="bg1">
                    <a:lumMod val="95000"/>
                  </a:schemeClr>
                </a:solidFill>
                <a:latin typeface="Bahnschrift" panose="020B0502040204020203" pitchFamily="34" charset="0"/>
              </a:rPr>
              <a:t>Model Performance Metrics</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Deployment Overview</a:t>
            </a:r>
          </a:p>
          <a:p>
            <a:r>
              <a:rPr lang="en-IN" dirty="0" err="1"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Streamlit</a:t>
            </a:r>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 App Workflow</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System Architecture</a:t>
            </a:r>
          </a:p>
          <a:p>
            <a:r>
              <a:rPr lang="en-IN" dirty="0" err="1"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Buisness</a:t>
            </a:r>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 Impacts</a:t>
            </a:r>
          </a:p>
          <a:p>
            <a:endParaRPr lang="en-IN" dirty="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1164210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a:t>
            </a:r>
            <a:r>
              <a:rPr lang="en-US" dirty="0">
                <a:latin typeface="Imprint MT Shadow" panose="04020605060303030202" pitchFamily="82" charset="0"/>
                <a:cs typeface="Times New Roman" panose="02020603050405020304" pitchFamily="18" charset="0"/>
              </a:rPr>
              <a:t>PROBLEM</a:t>
            </a:r>
            <a:endParaRPr lang="en-US" dirty="0">
              <a:latin typeface="Imprint MT Shadow" panose="04020605060303030202"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834234" cy="4640267"/>
          </a:xfrm>
        </p:spPr>
        <p:txBody>
          <a:bodyPr anchor="ctr">
            <a:normAutofit fontScale="70000" lnSpcReduction="20000"/>
          </a:bodyPr>
          <a:lstStyle/>
          <a:p>
            <a:pPr marL="0" indent="0">
              <a:buNone/>
            </a:pPr>
            <a:r>
              <a:rPr lang="en-US" b="1" dirty="0" smtClean="0">
                <a:latin typeface="Times New Roman" panose="02020603050405020304" pitchFamily="18" charset="0"/>
                <a:cs typeface="Times New Roman" panose="02020603050405020304" pitchFamily="18" charset="0"/>
              </a:rPr>
              <a:t>Emergency </a:t>
            </a:r>
            <a:r>
              <a:rPr lang="en-US" b="1" dirty="0">
                <a:latin typeface="Times New Roman" panose="02020603050405020304" pitchFamily="18" charset="0"/>
                <a:cs typeface="Times New Roman" panose="02020603050405020304" pitchFamily="18" charset="0"/>
              </a:rPr>
              <a:t>Response Dilemma:</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Every minute counts in fatal accidents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Limited resources (ambulances, trauma teams)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Need to prioritize response effectively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Current Situation:</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230,656 motor vehicle collisions analyzed</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Only 205 (0.09%) result in fatalities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Class imbalance: 224:1 ratio</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Challenge: Identify fatal cases quickly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Stencil" panose="040409050D0802020404" pitchFamily="82" charset="0"/>
                <a:cs typeface="Times New Roman" panose="02020603050405020304" pitchFamily="18" charset="0"/>
              </a:rPr>
              <a:t>Business Question:</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Can we predict accident severity to </a:t>
            </a:r>
            <a:r>
              <a:rPr lang="en-US" dirty="0" smtClean="0">
                <a:latin typeface="Times New Roman" panose="02020603050405020304" pitchFamily="18" charset="0"/>
                <a:cs typeface="Times New Roman" panose="02020603050405020304" pitchFamily="18" charset="0"/>
              </a:rPr>
              <a:t>optimize emergency </a:t>
            </a:r>
            <a:r>
              <a:rPr lang="en-US" dirty="0">
                <a:latin typeface="Times New Roman" panose="02020603050405020304" pitchFamily="18" charset="0"/>
                <a:cs typeface="Times New Roman" panose="02020603050405020304" pitchFamily="18" charset="0"/>
              </a:rPr>
              <a:t>response and save lives?"</a:t>
            </a: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38045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Exploratory Data Analysis - Key Findings</a:t>
            </a:r>
            <a:endParaRPr lang="en-IN" dirty="0">
              <a:latin typeface="Imprint MT Shadow" panose="04020605060303030202" pitchFamily="82" charset="0"/>
            </a:endParaRPr>
          </a:p>
        </p:txBody>
      </p:sp>
      <p:sp>
        <p:nvSpPr>
          <p:cNvPr id="4" name="Content Placeholder 2">
            <a:extLst>
              <a:ext uri="{FF2B5EF4-FFF2-40B4-BE49-F238E27FC236}">
                <a16:creationId xmlns:a16="http://schemas.microsoft.com/office/drawing/2014/main" id="{67B003C9-103A-47E6-D7EB-87D0A8CB5431}"/>
              </a:ext>
            </a:extLst>
          </p:cNvPr>
          <p:cNvSpPr txBox="1">
            <a:spLocks/>
          </p:cNvSpPr>
          <p:nvPr/>
        </p:nvSpPr>
        <p:spPr>
          <a:xfrm>
            <a:off x="831284" y="1566420"/>
            <a:ext cx="7223218" cy="464026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smtClean="0">
                <a:latin typeface="Times New Roman" panose="02020603050405020304" pitchFamily="18" charset="0"/>
                <a:cs typeface="Times New Roman" panose="02020603050405020304" pitchFamily="18" charset="0"/>
              </a:rPr>
              <a:t>High-Risk </a:t>
            </a:r>
            <a:r>
              <a:rPr lang="en-US" sz="2200" b="1" dirty="0">
                <a:latin typeface="Times New Roman" panose="02020603050405020304" pitchFamily="18" charset="0"/>
                <a:cs typeface="Times New Roman" panose="02020603050405020304" pitchFamily="18" charset="0"/>
              </a:rPr>
              <a:t>Groups: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Pedestrians: 3x higher fatality rate</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Elderly (65+): 2.5x higher risk</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Bicyclists: 2x higher risk</a:t>
            </a:r>
          </a:p>
          <a:p>
            <a:pPr marL="0" indent="0">
              <a:buNone/>
            </a:pP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Temporal Patterns: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Late night (12am-5am): Elevated risk</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Weekend crashes: Slightly higher severity</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Summer months: Increased </a:t>
            </a:r>
            <a:r>
              <a:rPr lang="en-US" sz="2200" dirty="0" smtClean="0">
                <a:latin typeface="Times New Roman" panose="02020603050405020304" pitchFamily="18" charset="0"/>
                <a:cs typeface="Times New Roman" panose="02020603050405020304" pitchFamily="18" charset="0"/>
              </a:rPr>
              <a:t>volume</a:t>
            </a:r>
            <a:endParaRPr lang="en-US" sz="22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2400" y="3998069"/>
            <a:ext cx="5336966" cy="192415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146" y="1319258"/>
            <a:ext cx="3900791" cy="2575994"/>
          </a:xfrm>
          <a:prstGeom prst="rect">
            <a:avLst/>
          </a:prstGeom>
        </p:spPr>
      </p:pic>
    </p:spTree>
    <p:extLst>
      <p:ext uri="{BB962C8B-B14F-4D97-AF65-F5344CB8AC3E}">
        <p14:creationId xmlns:p14="http://schemas.microsoft.com/office/powerpoint/2010/main" val="2809018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Exploratory Data Analysis - Key Findings</a:t>
            </a:r>
            <a:endParaRPr lang="en-IN" dirty="0">
              <a:latin typeface="Imprint MT Shadow" panose="04020605060303030202" pitchFamily="82" charset="0"/>
            </a:endParaRPr>
          </a:p>
        </p:txBody>
      </p:sp>
      <p:sp>
        <p:nvSpPr>
          <p:cNvPr id="4" name="Content Placeholder 2">
            <a:extLst>
              <a:ext uri="{FF2B5EF4-FFF2-40B4-BE49-F238E27FC236}">
                <a16:creationId xmlns:a16="http://schemas.microsoft.com/office/drawing/2014/main" id="{67B003C9-103A-47E6-D7EB-87D0A8CB5431}"/>
              </a:ext>
            </a:extLst>
          </p:cNvPr>
          <p:cNvSpPr txBox="1">
            <a:spLocks/>
          </p:cNvSpPr>
          <p:nvPr/>
        </p:nvSpPr>
        <p:spPr>
          <a:xfrm>
            <a:off x="831284" y="1566420"/>
            <a:ext cx="7223218" cy="464026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smtClean="0">
                <a:latin typeface="Times New Roman" panose="02020603050405020304" pitchFamily="18" charset="0"/>
                <a:cs typeface="Times New Roman" panose="02020603050405020304" pitchFamily="18" charset="0"/>
              </a:rPr>
              <a:t>Safety </a:t>
            </a:r>
            <a:r>
              <a:rPr lang="en-US" sz="2200" b="1" dirty="0">
                <a:latin typeface="Times New Roman" panose="02020603050405020304" pitchFamily="18" charset="0"/>
                <a:cs typeface="Times New Roman" panose="02020603050405020304" pitchFamily="18" charset="0"/>
              </a:rPr>
              <a:t>Equipment Impact:</a:t>
            </a:r>
          </a:p>
          <a:p>
            <a:pPr marL="0" indent="0">
              <a:buNone/>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No seatbelt: 4x higher fatality</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Ejection: 10x higher fatality</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Airbag deployment: 50% risk reduction</a:t>
            </a:r>
          </a:p>
          <a:p>
            <a:pPr marL="0" indent="0">
              <a:buNone/>
            </a:pP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Top Contributing Factors:</a:t>
            </a:r>
          </a:p>
          <a:p>
            <a:pPr marL="0" indent="0">
              <a:buNone/>
            </a:pPr>
            <a:r>
              <a:rPr lang="en-US" sz="2200" dirty="0" smtClean="0">
                <a:latin typeface="Times New Roman" panose="02020603050405020304" pitchFamily="18" charset="0"/>
                <a:cs typeface="Times New Roman" panose="02020603050405020304" pitchFamily="18" charset="0"/>
              </a:rPr>
              <a:t>      1</a:t>
            </a:r>
            <a:r>
              <a:rPr lang="en-US" sz="2200" dirty="0">
                <a:latin typeface="Times New Roman" panose="02020603050405020304" pitchFamily="18" charset="0"/>
                <a:cs typeface="Times New Roman" panose="02020603050405020304" pitchFamily="18" charset="0"/>
              </a:rPr>
              <a:t>. Driver inattention/distraction</a:t>
            </a:r>
          </a:p>
          <a:p>
            <a:pPr marL="0" indent="0">
              <a:buNone/>
            </a:pPr>
            <a:r>
              <a:rPr lang="en-US" sz="2200" dirty="0" smtClean="0">
                <a:latin typeface="Times New Roman" panose="02020603050405020304" pitchFamily="18" charset="0"/>
                <a:cs typeface="Times New Roman" panose="02020603050405020304" pitchFamily="18" charset="0"/>
              </a:rPr>
              <a:t>      2</a:t>
            </a:r>
            <a:r>
              <a:rPr lang="en-US" sz="2200" dirty="0">
                <a:latin typeface="Times New Roman" panose="02020603050405020304" pitchFamily="18" charset="0"/>
                <a:cs typeface="Times New Roman" panose="02020603050405020304" pitchFamily="18" charset="0"/>
              </a:rPr>
              <a:t>. Unsafe speed</a:t>
            </a:r>
          </a:p>
          <a:p>
            <a:pPr marL="0" indent="0">
              <a:buNone/>
            </a:pPr>
            <a:r>
              <a:rPr lang="en-US" sz="2200" dirty="0" smtClean="0">
                <a:latin typeface="Times New Roman" panose="02020603050405020304" pitchFamily="18" charset="0"/>
                <a:cs typeface="Times New Roman" panose="02020603050405020304" pitchFamily="18" charset="0"/>
              </a:rPr>
              <a:t>      3</a:t>
            </a:r>
            <a:r>
              <a:rPr lang="en-US" sz="2200" dirty="0">
                <a:latin typeface="Times New Roman" panose="02020603050405020304" pitchFamily="18" charset="0"/>
                <a:cs typeface="Times New Roman" panose="02020603050405020304" pitchFamily="18" charset="0"/>
              </a:rPr>
              <a:t>. Alcohol involvement</a:t>
            </a:r>
          </a:p>
          <a:p>
            <a:pPr marL="0" indent="0">
              <a:buNone/>
            </a:pPr>
            <a:r>
              <a:rPr lang="en-US" sz="2200" dirty="0" smtClean="0">
                <a:latin typeface="Times New Roman" panose="02020603050405020304" pitchFamily="18" charset="0"/>
                <a:cs typeface="Times New Roman" panose="02020603050405020304" pitchFamily="18" charset="0"/>
              </a:rPr>
              <a:t>      4</a:t>
            </a:r>
            <a:r>
              <a:rPr lang="en-US" sz="2200" dirty="0">
                <a:latin typeface="Times New Roman" panose="02020603050405020304" pitchFamily="18" charset="0"/>
                <a:cs typeface="Times New Roman" panose="02020603050405020304" pitchFamily="18" charset="0"/>
              </a:rPr>
              <a:t>. Failure to yield</a:t>
            </a:r>
            <a:endParaRPr lang="en-US" sz="1900" dirty="0" smtClean="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922" y="2014787"/>
            <a:ext cx="4480948" cy="3139712"/>
          </a:xfrm>
          <a:prstGeom prst="rect">
            <a:avLst/>
          </a:prstGeom>
        </p:spPr>
      </p:pic>
    </p:spTree>
    <p:extLst>
      <p:ext uri="{BB962C8B-B14F-4D97-AF65-F5344CB8AC3E}">
        <p14:creationId xmlns:p14="http://schemas.microsoft.com/office/powerpoint/2010/main" val="38358973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smtClean="0">
                <a:latin typeface="Imprint MT Shadow" panose="04020605060303030202" pitchFamily="82" charset="0"/>
                <a:cs typeface="Times New Roman" panose="02020603050405020304" pitchFamily="18" charset="0"/>
              </a:rPr>
              <a:t>MACHINE </a:t>
            </a:r>
            <a:r>
              <a:rPr lang="en-US" dirty="0">
                <a:latin typeface="Imprint MT Shadow" panose="04020605060303030202" pitchFamily="82" charset="0"/>
                <a:cs typeface="Times New Roman" panose="02020603050405020304" pitchFamily="18" charset="0"/>
              </a:rPr>
              <a:t>LEARNING </a:t>
            </a:r>
            <a:r>
              <a:rPr lang="en-US" dirty="0" smtClean="0">
                <a:latin typeface="Imprint MT Shadow" panose="04020605060303030202" pitchFamily="82" charset="0"/>
                <a:cs typeface="Times New Roman" panose="02020603050405020304" pitchFamily="18" charset="0"/>
              </a:rPr>
              <a:t>PIPELINE</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834234" cy="4640267"/>
          </a:xfrm>
        </p:spPr>
        <p:txBody>
          <a:bodyPr anchor="ctr">
            <a:normAutofit fontScale="62500" lnSpcReduction="20000"/>
          </a:bodyPr>
          <a:lstStyle/>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Phase </a:t>
            </a:r>
            <a:r>
              <a:rPr lang="en-US" b="1" dirty="0">
                <a:latin typeface="Times New Roman" panose="02020603050405020304" pitchFamily="18" charset="0"/>
                <a:cs typeface="Times New Roman" panose="02020603050405020304" pitchFamily="18" charset="0"/>
              </a:rPr>
              <a:t>1: Data Preparation</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Cleaned age anomalies (&gt;120 years, placeholders)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Handled missing values (dropped IDs, imputed features)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Dropped 48,719 VEHICLE_ID nulls (pedestrians)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Final dataset: 230,656 clean records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Phase 2: Feature Engineering</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Created 43 predictive features</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Temporal: IS_WEEKEND, IS_NIGHT, IS_RUSH_HOUR</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Demographics: IS_ELDERLY, IS_CHILD, IS_PEDESTRIAN</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Safety: HAS_SEATBELT, HAS_AIRBAG, WAS_EJECTED</a:t>
            </a:r>
          </a:p>
          <a:p>
            <a:pPr marL="0" indent="0">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Encoded categorical variables (Label Encoding</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3269169772"/>
              </p:ext>
            </p:extLst>
          </p:nvPr>
        </p:nvGraphicFramePr>
        <p:xfrm>
          <a:off x="3347938" y="-51353"/>
          <a:ext cx="5496126" cy="37660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12055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smtClean="0">
                <a:latin typeface="Imprint MT Shadow" panose="04020605060303030202" pitchFamily="82" charset="0"/>
                <a:cs typeface="Times New Roman" panose="02020603050405020304" pitchFamily="18" charset="0"/>
              </a:rPr>
              <a:t>MACHINE </a:t>
            </a:r>
            <a:r>
              <a:rPr lang="en-US" dirty="0">
                <a:latin typeface="Imprint MT Shadow" panose="04020605060303030202" pitchFamily="82" charset="0"/>
                <a:cs typeface="Times New Roman" panose="02020603050405020304" pitchFamily="18" charset="0"/>
              </a:rPr>
              <a:t>LEARNING </a:t>
            </a:r>
            <a:r>
              <a:rPr lang="en-US" dirty="0" smtClean="0">
                <a:latin typeface="Imprint MT Shadow" panose="04020605060303030202" pitchFamily="82" charset="0"/>
                <a:cs typeface="Times New Roman" panose="02020603050405020304" pitchFamily="18" charset="0"/>
              </a:rPr>
              <a:t>PIPELINE</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790027" cy="4640267"/>
          </a:xfrm>
        </p:spPr>
        <p:txBody>
          <a:bodyPr anchor="ctr">
            <a:normAutofit/>
          </a:bodyPr>
          <a:lstStyle/>
          <a:p>
            <a:pPr marL="0" indent="0">
              <a:buNone/>
            </a:pPr>
            <a:r>
              <a:rPr lang="en-US" sz="3000" b="1" dirty="0" smtClean="0">
                <a:latin typeface="Times New Roman" panose="02020603050405020304" pitchFamily="18" charset="0"/>
                <a:cs typeface="Times New Roman" panose="02020603050405020304" pitchFamily="18" charset="0"/>
              </a:rPr>
              <a:t>Phase </a:t>
            </a:r>
            <a:r>
              <a:rPr lang="en-US" sz="3000" b="1" dirty="0">
                <a:latin typeface="Times New Roman" panose="02020603050405020304" pitchFamily="18" charset="0"/>
                <a:cs typeface="Times New Roman" panose="02020603050405020304" pitchFamily="18" charset="0"/>
              </a:rPr>
              <a:t>3: Handling Class Imbalance</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Method: SMOTE (Synthetic Minority Oversampling)</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Before: 224:1 ratio</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After: 1:1 balanced training </a:t>
            </a:r>
            <a:r>
              <a:rPr lang="en-US" sz="2200" dirty="0" smtClean="0">
                <a:latin typeface="Times New Roman" panose="02020603050405020304" pitchFamily="18" charset="0"/>
                <a:cs typeface="Times New Roman" panose="02020603050405020304" pitchFamily="18" charset="0"/>
              </a:rPr>
              <a:t>set </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Test set: Kept original distribution</a:t>
            </a:r>
          </a:p>
          <a:p>
            <a:pPr marL="0" indent="0">
              <a:buNone/>
            </a:pP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US" sz="3000" b="1" dirty="0">
                <a:latin typeface="Times New Roman" panose="02020603050405020304" pitchFamily="18" charset="0"/>
                <a:cs typeface="Times New Roman" panose="02020603050405020304" pitchFamily="18" charset="0"/>
              </a:rPr>
              <a:t>Phase 4: Model Training &amp; Evaluation</a:t>
            </a:r>
          </a:p>
          <a:p>
            <a:pPr marL="0" indent="0">
              <a:buNone/>
            </a:pP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Train-test split: 80-20 stratified</a:t>
            </a:r>
          </a:p>
          <a:p>
            <a:pPr marL="0" indent="0">
              <a:buNone/>
            </a:pP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Feature scaling: </a:t>
            </a:r>
            <a:r>
              <a:rPr lang="en-US" sz="2000" dirty="0" err="1">
                <a:latin typeface="Times New Roman" panose="02020603050405020304" pitchFamily="18" charset="0"/>
                <a:cs typeface="Times New Roman" panose="02020603050405020304" pitchFamily="18" charset="0"/>
              </a:rPr>
              <a:t>StandardScaler</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Cross-validation: 3-fold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630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Model Comparison</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1414020"/>
            <a:ext cx="8387295" cy="4640267"/>
          </a:xfrm>
        </p:spPr>
        <p:txBody>
          <a:bodyPr anchor="ctr">
            <a:normAutofit fontScale="92500" lnSpcReduction="20000"/>
          </a:bodyPr>
          <a:lstStyle/>
          <a:p>
            <a:pPr marL="0" indent="0">
              <a:buNone/>
            </a:pPr>
            <a:r>
              <a:rPr lang="en-US" sz="3300" b="1" dirty="0">
                <a:latin typeface="Times New Roman" panose="02020603050405020304" pitchFamily="18" charset="0"/>
                <a:cs typeface="Times New Roman" panose="02020603050405020304" pitchFamily="18" charset="0"/>
              </a:rPr>
              <a:t>Models Tested: </a:t>
            </a:r>
            <a:endParaRPr lang="en-US" sz="3300" b="1" dirty="0" smtClean="0">
              <a:latin typeface="Times New Roman" panose="02020603050405020304" pitchFamily="18" charset="0"/>
              <a:cs typeface="Times New Roman" panose="02020603050405020304" pitchFamily="18" charset="0"/>
            </a:endParaRPr>
          </a:p>
          <a:p>
            <a:pPr marL="514350" indent="-514350">
              <a:buAutoNum type="arabicPeriod"/>
            </a:pPr>
            <a:r>
              <a:rPr lang="en-US" sz="2600" dirty="0" smtClean="0">
                <a:latin typeface="Times New Roman" panose="02020603050405020304" pitchFamily="18" charset="0"/>
                <a:cs typeface="Times New Roman" panose="02020603050405020304" pitchFamily="18" charset="0"/>
              </a:rPr>
              <a:t>Logistic </a:t>
            </a:r>
            <a:r>
              <a:rPr lang="en-US" sz="2600" dirty="0">
                <a:latin typeface="Times New Roman" panose="02020603050405020304" pitchFamily="18" charset="0"/>
                <a:cs typeface="Times New Roman" panose="02020603050405020304" pitchFamily="18" charset="0"/>
              </a:rPr>
              <a:t>Regression - Linear baseline </a:t>
            </a:r>
            <a:endParaRPr lang="en-US" sz="2600" dirty="0" smtClean="0">
              <a:latin typeface="Times New Roman" panose="02020603050405020304" pitchFamily="18" charset="0"/>
              <a:cs typeface="Times New Roman" panose="02020603050405020304" pitchFamily="18" charset="0"/>
            </a:endParaRPr>
          </a:p>
          <a:p>
            <a:pPr marL="514350" indent="-514350">
              <a:buAutoNum type="arabicPeriod"/>
            </a:pPr>
            <a:r>
              <a:rPr lang="en-US" sz="2600" dirty="0" smtClean="0">
                <a:latin typeface="Times New Roman" panose="02020603050405020304" pitchFamily="18" charset="0"/>
                <a:cs typeface="Times New Roman" panose="02020603050405020304" pitchFamily="18" charset="0"/>
              </a:rPr>
              <a:t>Decision </a:t>
            </a:r>
            <a:r>
              <a:rPr lang="en-US" sz="2600" dirty="0">
                <a:latin typeface="Times New Roman" panose="02020603050405020304" pitchFamily="18" charset="0"/>
                <a:cs typeface="Times New Roman" panose="02020603050405020304" pitchFamily="18" charset="0"/>
              </a:rPr>
              <a:t>Tree - Interpretable non-linear </a:t>
            </a:r>
            <a:endParaRPr lang="en-US" sz="2600" dirty="0" smtClean="0">
              <a:latin typeface="Times New Roman" panose="02020603050405020304" pitchFamily="18" charset="0"/>
              <a:cs typeface="Times New Roman" panose="02020603050405020304" pitchFamily="18" charset="0"/>
            </a:endParaRPr>
          </a:p>
          <a:p>
            <a:pPr marL="514350" indent="-514350">
              <a:buAutoNum type="arabicPeriod"/>
            </a:pPr>
            <a:r>
              <a:rPr lang="en-US" sz="2600" dirty="0" smtClean="0">
                <a:latin typeface="Times New Roman" panose="02020603050405020304" pitchFamily="18" charset="0"/>
                <a:cs typeface="Times New Roman" panose="02020603050405020304" pitchFamily="18" charset="0"/>
              </a:rPr>
              <a:t>Random </a:t>
            </a:r>
            <a:r>
              <a:rPr lang="en-US" sz="2600" dirty="0">
                <a:latin typeface="Times New Roman" panose="02020603050405020304" pitchFamily="18" charset="0"/>
                <a:cs typeface="Times New Roman" panose="02020603050405020304" pitchFamily="18" charset="0"/>
              </a:rPr>
              <a:t>Forest - Ensemble of trees </a:t>
            </a:r>
            <a:endParaRPr lang="en-US" sz="2600" dirty="0" smtClean="0">
              <a:latin typeface="Times New Roman" panose="02020603050405020304" pitchFamily="18" charset="0"/>
              <a:cs typeface="Times New Roman" panose="02020603050405020304" pitchFamily="18" charset="0"/>
            </a:endParaRPr>
          </a:p>
          <a:p>
            <a:pPr marL="514350" indent="-514350">
              <a:buAutoNum type="arabicPeriod"/>
            </a:pPr>
            <a:r>
              <a:rPr lang="en-US" sz="2600" dirty="0" smtClean="0">
                <a:latin typeface="Times New Roman" panose="02020603050405020304" pitchFamily="18" charset="0"/>
                <a:cs typeface="Times New Roman" panose="02020603050405020304" pitchFamily="18" charset="0"/>
              </a:rPr>
              <a:t>Gradient </a:t>
            </a:r>
            <a:r>
              <a:rPr lang="en-US" sz="2600" dirty="0">
                <a:latin typeface="Times New Roman" panose="02020603050405020304" pitchFamily="18" charset="0"/>
                <a:cs typeface="Times New Roman" panose="02020603050405020304" pitchFamily="18" charset="0"/>
              </a:rPr>
              <a:t>Boosting - Sequential ensemble </a:t>
            </a:r>
            <a:endParaRPr lang="en-US" sz="2600" dirty="0" smtClean="0">
              <a:latin typeface="Times New Roman" panose="02020603050405020304" pitchFamily="18" charset="0"/>
              <a:cs typeface="Times New Roman" panose="02020603050405020304" pitchFamily="18" charset="0"/>
            </a:endParaRPr>
          </a:p>
          <a:p>
            <a:pPr marL="514350" indent="-514350">
              <a:buAutoNum type="arabicPeriod"/>
            </a:pPr>
            <a:r>
              <a:rPr lang="en-US" sz="2600" dirty="0" err="1" smtClean="0">
                <a:latin typeface="Times New Roman" panose="02020603050405020304" pitchFamily="18" charset="0"/>
                <a:cs typeface="Times New Roman" panose="02020603050405020304" pitchFamily="18" charset="0"/>
              </a:rPr>
              <a:t>XGBoost</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Optimized gradient boosting </a:t>
            </a:r>
            <a:endParaRPr lang="en-US" sz="2600"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3300" b="1" dirty="0">
                <a:latin typeface="Times New Roman" panose="02020603050405020304" pitchFamily="18" charset="0"/>
                <a:cs typeface="Times New Roman" panose="02020603050405020304" pitchFamily="18" charset="0"/>
              </a:rPr>
              <a:t>Key Observation: </a:t>
            </a:r>
            <a:endParaRPr lang="en-US" sz="3300" b="1"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Notice </a:t>
            </a:r>
            <a:r>
              <a:rPr lang="en-US" sz="2400" dirty="0">
                <a:latin typeface="Times New Roman" panose="02020603050405020304" pitchFamily="18" charset="0"/>
                <a:cs typeface="Times New Roman" panose="02020603050405020304" pitchFamily="18" charset="0"/>
              </a:rPr>
              <a:t>the trade-off between ROC-AUC and Recall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Best AUC ≠ Best Recall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This will become important in our deployment decision</a:t>
            </a:r>
            <a:endParaRPr lang="en-US"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94060323"/>
              </p:ext>
            </p:extLst>
          </p:nvPr>
        </p:nvGraphicFramePr>
        <p:xfrm>
          <a:off x="6459165" y="1216440"/>
          <a:ext cx="5567465" cy="3840480"/>
        </p:xfrm>
        <a:graphic>
          <a:graphicData uri="http://schemas.openxmlformats.org/drawingml/2006/table">
            <a:tbl>
              <a:tblPr firstRow="1" bandRow="1">
                <a:tableStyleId>{5C22544A-7EE6-4342-B048-85BDC9FD1C3A}</a:tableStyleId>
              </a:tblPr>
              <a:tblGrid>
                <a:gridCol w="1060316">
                  <a:extLst>
                    <a:ext uri="{9D8B030D-6E8A-4147-A177-3AD203B41FA5}">
                      <a16:colId xmlns:a16="http://schemas.microsoft.com/office/drawing/2014/main" val="358148239"/>
                    </a:ext>
                  </a:extLst>
                </a:gridCol>
                <a:gridCol w="1166670">
                  <a:extLst>
                    <a:ext uri="{9D8B030D-6E8A-4147-A177-3AD203B41FA5}">
                      <a16:colId xmlns:a16="http://schemas.microsoft.com/office/drawing/2014/main" val="273034587"/>
                    </a:ext>
                  </a:extLst>
                </a:gridCol>
                <a:gridCol w="1113493">
                  <a:extLst>
                    <a:ext uri="{9D8B030D-6E8A-4147-A177-3AD203B41FA5}">
                      <a16:colId xmlns:a16="http://schemas.microsoft.com/office/drawing/2014/main" val="2859906553"/>
                    </a:ext>
                  </a:extLst>
                </a:gridCol>
                <a:gridCol w="1113493">
                  <a:extLst>
                    <a:ext uri="{9D8B030D-6E8A-4147-A177-3AD203B41FA5}">
                      <a16:colId xmlns:a16="http://schemas.microsoft.com/office/drawing/2014/main" val="3812331018"/>
                    </a:ext>
                  </a:extLst>
                </a:gridCol>
                <a:gridCol w="1113493">
                  <a:extLst>
                    <a:ext uri="{9D8B030D-6E8A-4147-A177-3AD203B41FA5}">
                      <a16:colId xmlns:a16="http://schemas.microsoft.com/office/drawing/2014/main" val="3328596155"/>
                    </a:ext>
                  </a:extLst>
                </a:gridCol>
              </a:tblGrid>
              <a:tr h="365760">
                <a:tc>
                  <a:txBody>
                    <a:bodyPr/>
                    <a:lstStyle/>
                    <a:p>
                      <a:r>
                        <a:rPr lang="en-US" sz="1400" dirty="0"/>
                        <a:t>Model</a:t>
                      </a:r>
                    </a:p>
                  </a:txBody>
                  <a:tcPr anchor="ctr"/>
                </a:tc>
                <a:tc>
                  <a:txBody>
                    <a:bodyPr/>
                    <a:lstStyle/>
                    <a:p>
                      <a:r>
                        <a:rPr lang="en-US" sz="1400"/>
                        <a:t>ROC-AUC</a:t>
                      </a:r>
                    </a:p>
                  </a:txBody>
                  <a:tcPr anchor="ctr"/>
                </a:tc>
                <a:tc>
                  <a:txBody>
                    <a:bodyPr/>
                    <a:lstStyle/>
                    <a:p>
                      <a:r>
                        <a:rPr lang="en-US" sz="1400"/>
                        <a:t>Recall</a:t>
                      </a:r>
                    </a:p>
                  </a:txBody>
                  <a:tcPr anchor="ctr"/>
                </a:tc>
                <a:tc>
                  <a:txBody>
                    <a:bodyPr/>
                    <a:lstStyle/>
                    <a:p>
                      <a:r>
                        <a:rPr lang="en-US" sz="1400"/>
                        <a:t>Precision</a:t>
                      </a:r>
                    </a:p>
                  </a:txBody>
                  <a:tcPr anchor="ctr"/>
                </a:tc>
                <a:tc>
                  <a:txBody>
                    <a:bodyPr/>
                    <a:lstStyle/>
                    <a:p>
                      <a:r>
                        <a:rPr lang="en-US" sz="1400"/>
                        <a:t>Use Case</a:t>
                      </a:r>
                    </a:p>
                  </a:txBody>
                  <a:tcPr anchor="ctr"/>
                </a:tc>
                <a:extLst>
                  <a:ext uri="{0D108BD9-81ED-4DB2-BD59-A6C34878D82A}">
                    <a16:rowId xmlns:a16="http://schemas.microsoft.com/office/drawing/2014/main" val="1161384719"/>
                  </a:ext>
                </a:extLst>
              </a:tr>
              <a:tr h="640080">
                <a:tc>
                  <a:txBody>
                    <a:bodyPr/>
                    <a:lstStyle/>
                    <a:p>
                      <a:r>
                        <a:rPr lang="en-US" sz="1400" b="1" dirty="0"/>
                        <a:t>Gradient Boosting</a:t>
                      </a:r>
                      <a:endParaRPr lang="en-US" sz="1400" dirty="0"/>
                    </a:p>
                  </a:txBody>
                  <a:tcPr anchor="ctr"/>
                </a:tc>
                <a:tc>
                  <a:txBody>
                    <a:bodyPr/>
                    <a:lstStyle/>
                    <a:p>
                      <a:r>
                        <a:rPr lang="en-AE" sz="1400" b="1"/>
                        <a:t>0.8975</a:t>
                      </a:r>
                      <a:r>
                        <a:rPr lang="en-AE" sz="1400"/>
                        <a:t> ⭐</a:t>
                      </a:r>
                    </a:p>
                  </a:txBody>
                  <a:tcPr anchor="ctr"/>
                </a:tc>
                <a:tc>
                  <a:txBody>
                    <a:bodyPr/>
                    <a:lstStyle/>
                    <a:p>
                      <a:r>
                        <a:rPr lang="en-AE" sz="1400"/>
                        <a:t>47.3%</a:t>
                      </a:r>
                    </a:p>
                  </a:txBody>
                  <a:tcPr anchor="ctr"/>
                </a:tc>
                <a:tc>
                  <a:txBody>
                    <a:bodyPr/>
                    <a:lstStyle/>
                    <a:p>
                      <a:r>
                        <a:rPr lang="en-AE" sz="1400"/>
                        <a:t>9.0%</a:t>
                      </a:r>
                    </a:p>
                  </a:txBody>
                  <a:tcPr anchor="ctr"/>
                </a:tc>
                <a:tc>
                  <a:txBody>
                    <a:bodyPr/>
                    <a:lstStyle/>
                    <a:p>
                      <a:r>
                        <a:rPr lang="en-US" sz="1400"/>
                        <a:t>Best overall</a:t>
                      </a:r>
                    </a:p>
                  </a:txBody>
                  <a:tcPr anchor="ctr"/>
                </a:tc>
                <a:extLst>
                  <a:ext uri="{0D108BD9-81ED-4DB2-BD59-A6C34878D82A}">
                    <a16:rowId xmlns:a16="http://schemas.microsoft.com/office/drawing/2014/main" val="3563552415"/>
                  </a:ext>
                </a:extLst>
              </a:tr>
              <a:tr h="640080">
                <a:tc>
                  <a:txBody>
                    <a:bodyPr/>
                    <a:lstStyle/>
                    <a:p>
                      <a:r>
                        <a:rPr lang="en-US" sz="1400"/>
                        <a:t>XGBoost</a:t>
                      </a:r>
                    </a:p>
                  </a:txBody>
                  <a:tcPr anchor="ctr"/>
                </a:tc>
                <a:tc>
                  <a:txBody>
                    <a:bodyPr/>
                    <a:lstStyle/>
                    <a:p>
                      <a:r>
                        <a:rPr lang="en-AE" sz="1400"/>
                        <a:t>0.8888</a:t>
                      </a:r>
                    </a:p>
                  </a:txBody>
                  <a:tcPr anchor="ctr"/>
                </a:tc>
                <a:tc>
                  <a:txBody>
                    <a:bodyPr/>
                    <a:lstStyle/>
                    <a:p>
                      <a:r>
                        <a:rPr lang="en-AE" sz="1400"/>
                        <a:t>32.7%</a:t>
                      </a:r>
                    </a:p>
                  </a:txBody>
                  <a:tcPr anchor="ctr"/>
                </a:tc>
                <a:tc>
                  <a:txBody>
                    <a:bodyPr/>
                    <a:lstStyle/>
                    <a:p>
                      <a:r>
                        <a:rPr lang="en-AE" sz="1400"/>
                        <a:t>76.1%</a:t>
                      </a:r>
                    </a:p>
                  </a:txBody>
                  <a:tcPr anchor="ctr"/>
                </a:tc>
                <a:tc>
                  <a:txBody>
                    <a:bodyPr/>
                    <a:lstStyle/>
                    <a:p>
                      <a:r>
                        <a:rPr lang="en-US" sz="1400"/>
                        <a:t>High precision</a:t>
                      </a:r>
                    </a:p>
                  </a:txBody>
                  <a:tcPr anchor="ctr"/>
                </a:tc>
                <a:extLst>
                  <a:ext uri="{0D108BD9-81ED-4DB2-BD59-A6C34878D82A}">
                    <a16:rowId xmlns:a16="http://schemas.microsoft.com/office/drawing/2014/main" val="1050593484"/>
                  </a:ext>
                </a:extLst>
              </a:tr>
              <a:tr h="640080">
                <a:tc>
                  <a:txBody>
                    <a:bodyPr/>
                    <a:lstStyle/>
                    <a:p>
                      <a:r>
                        <a:rPr lang="en-US" sz="1400"/>
                        <a:t>Random Forest</a:t>
                      </a:r>
                    </a:p>
                  </a:txBody>
                  <a:tcPr anchor="ctr"/>
                </a:tc>
                <a:tc>
                  <a:txBody>
                    <a:bodyPr/>
                    <a:lstStyle/>
                    <a:p>
                      <a:r>
                        <a:rPr lang="en-AE" sz="1400" dirty="0"/>
                        <a:t>0.8668</a:t>
                      </a:r>
                    </a:p>
                  </a:txBody>
                  <a:tcPr anchor="ctr"/>
                </a:tc>
                <a:tc>
                  <a:txBody>
                    <a:bodyPr/>
                    <a:lstStyle/>
                    <a:p>
                      <a:r>
                        <a:rPr lang="en-AE" sz="1400"/>
                        <a:t>39.0%</a:t>
                      </a:r>
                    </a:p>
                  </a:txBody>
                  <a:tcPr anchor="ctr"/>
                </a:tc>
                <a:tc>
                  <a:txBody>
                    <a:bodyPr/>
                    <a:lstStyle/>
                    <a:p>
                      <a:r>
                        <a:rPr lang="en-AE" sz="1400"/>
                        <a:t>12.0%</a:t>
                      </a:r>
                    </a:p>
                  </a:txBody>
                  <a:tcPr anchor="ctr"/>
                </a:tc>
                <a:tc>
                  <a:txBody>
                    <a:bodyPr/>
                    <a:lstStyle/>
                    <a:p>
                      <a:r>
                        <a:rPr lang="en-US" sz="1400"/>
                        <a:t>Balanced</a:t>
                      </a:r>
                    </a:p>
                  </a:txBody>
                  <a:tcPr anchor="ctr"/>
                </a:tc>
                <a:extLst>
                  <a:ext uri="{0D108BD9-81ED-4DB2-BD59-A6C34878D82A}">
                    <a16:rowId xmlns:a16="http://schemas.microsoft.com/office/drawing/2014/main" val="3652431134"/>
                  </a:ext>
                </a:extLst>
              </a:tr>
              <a:tr h="914400">
                <a:tc>
                  <a:txBody>
                    <a:bodyPr/>
                    <a:lstStyle/>
                    <a:p>
                      <a:r>
                        <a:rPr lang="en-US" sz="1400"/>
                        <a:t>Logistic Regression</a:t>
                      </a:r>
                    </a:p>
                  </a:txBody>
                  <a:tcPr anchor="ctr"/>
                </a:tc>
                <a:tc>
                  <a:txBody>
                    <a:bodyPr/>
                    <a:lstStyle/>
                    <a:p>
                      <a:r>
                        <a:rPr lang="en-AE" sz="1400" dirty="0"/>
                        <a:t>0.8509</a:t>
                      </a:r>
                    </a:p>
                  </a:txBody>
                  <a:tcPr anchor="ctr"/>
                </a:tc>
                <a:tc>
                  <a:txBody>
                    <a:bodyPr/>
                    <a:lstStyle/>
                    <a:p>
                      <a:r>
                        <a:rPr lang="en-AE" sz="1400" b="1"/>
                        <a:t>78.0%</a:t>
                      </a:r>
                      <a:r>
                        <a:rPr lang="en-AE" sz="1400"/>
                        <a:t> ⭐</a:t>
                      </a:r>
                    </a:p>
                  </a:txBody>
                  <a:tcPr anchor="ctr"/>
                </a:tc>
                <a:tc>
                  <a:txBody>
                    <a:bodyPr/>
                    <a:lstStyle/>
                    <a:p>
                      <a:r>
                        <a:rPr lang="en-AE" sz="1400"/>
                        <a:t>1.5%</a:t>
                      </a:r>
                    </a:p>
                  </a:txBody>
                  <a:tcPr anchor="ctr"/>
                </a:tc>
                <a:tc>
                  <a:txBody>
                    <a:bodyPr/>
                    <a:lstStyle/>
                    <a:p>
                      <a:r>
                        <a:rPr lang="en-US" sz="1400"/>
                        <a:t>Max recall</a:t>
                      </a:r>
                    </a:p>
                  </a:txBody>
                  <a:tcPr anchor="ctr"/>
                </a:tc>
                <a:extLst>
                  <a:ext uri="{0D108BD9-81ED-4DB2-BD59-A6C34878D82A}">
                    <a16:rowId xmlns:a16="http://schemas.microsoft.com/office/drawing/2014/main" val="2628612347"/>
                  </a:ext>
                </a:extLst>
              </a:tr>
              <a:tr h="640080">
                <a:tc>
                  <a:txBody>
                    <a:bodyPr/>
                    <a:lstStyle/>
                    <a:p>
                      <a:r>
                        <a:rPr lang="en-US" sz="1400"/>
                        <a:t>Decision Tree</a:t>
                      </a:r>
                    </a:p>
                  </a:txBody>
                  <a:tcPr anchor="ctr"/>
                </a:tc>
                <a:tc>
                  <a:txBody>
                    <a:bodyPr/>
                    <a:lstStyle/>
                    <a:p>
                      <a:r>
                        <a:rPr lang="en-AE" sz="1400"/>
                        <a:t>0.7524</a:t>
                      </a:r>
                    </a:p>
                  </a:txBody>
                  <a:tcPr anchor="ctr"/>
                </a:tc>
                <a:tc>
                  <a:txBody>
                    <a:bodyPr/>
                    <a:lstStyle/>
                    <a:p>
                      <a:r>
                        <a:rPr lang="en-AE" sz="1400"/>
                        <a:t>43.4%</a:t>
                      </a:r>
                    </a:p>
                  </a:txBody>
                  <a:tcPr anchor="ctr"/>
                </a:tc>
                <a:tc>
                  <a:txBody>
                    <a:bodyPr/>
                    <a:lstStyle/>
                    <a:p>
                      <a:r>
                        <a:rPr lang="en-AE" sz="1400"/>
                        <a:t>4.6%</a:t>
                      </a:r>
                    </a:p>
                  </a:txBody>
                  <a:tcPr anchor="ctr"/>
                </a:tc>
                <a:tc>
                  <a:txBody>
                    <a:bodyPr/>
                    <a:lstStyle/>
                    <a:p>
                      <a:r>
                        <a:rPr lang="en-US" sz="1400" dirty="0"/>
                        <a:t>Interpretable</a:t>
                      </a:r>
                    </a:p>
                  </a:txBody>
                  <a:tcPr anchor="ctr"/>
                </a:tc>
                <a:extLst>
                  <a:ext uri="{0D108BD9-81ED-4DB2-BD59-A6C34878D82A}">
                    <a16:rowId xmlns:a16="http://schemas.microsoft.com/office/drawing/2014/main" val="3964656652"/>
                  </a:ext>
                </a:extLst>
              </a:tr>
            </a:tbl>
          </a:graphicData>
        </a:graphic>
      </p:graphicFrame>
    </p:spTree>
    <p:extLst>
      <p:ext uri="{BB962C8B-B14F-4D97-AF65-F5344CB8AC3E}">
        <p14:creationId xmlns:p14="http://schemas.microsoft.com/office/powerpoint/2010/main" val="12095813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Model Comparison</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91841"/>
            <a:ext cx="8088044" cy="4640267"/>
          </a:xfrm>
        </p:spPr>
        <p:txBody>
          <a:bodyPr anchor="ctr">
            <a:normAutofit/>
          </a:bodyPr>
          <a:lstStyle/>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884" y="1311658"/>
            <a:ext cx="9406334" cy="4666280"/>
          </a:xfrm>
          <a:prstGeom prst="rect">
            <a:avLst/>
          </a:prstGeom>
        </p:spPr>
      </p:pic>
    </p:spTree>
    <p:extLst>
      <p:ext uri="{BB962C8B-B14F-4D97-AF65-F5344CB8AC3E}">
        <p14:creationId xmlns:p14="http://schemas.microsoft.com/office/powerpoint/2010/main" val="3659438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Model Performance - Gradient Boosting</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1508890"/>
            <a:ext cx="6422307" cy="4640267"/>
          </a:xfrm>
        </p:spPr>
        <p:txBody>
          <a:bodyPr anchor="ctr">
            <a:normAutofit/>
          </a:bodyPr>
          <a:lstStyle/>
          <a:p>
            <a:pPr marL="0" lvl="0" indent="0" eaLnBrk="0" fontAlgn="base" hangingPunct="0">
              <a:lnSpc>
                <a:spcPct val="100000"/>
              </a:lnSpc>
              <a:spcBef>
                <a:spcPct val="0"/>
              </a:spcBef>
              <a:spcAft>
                <a:spcPct val="0"/>
              </a:spcAft>
              <a:buNone/>
            </a:pPr>
            <a:r>
              <a:rPr lang="en-US" altLang="en-US" sz="2000" b="1" dirty="0" smtClean="0">
                <a:solidFill>
                  <a:schemeClr val="tx1"/>
                </a:solidFill>
                <a:latin typeface="Times New Roman" panose="02020603050405020304" pitchFamily="18" charset="0"/>
                <a:cs typeface="Times New Roman" panose="02020603050405020304" pitchFamily="18" charset="0"/>
              </a:rPr>
              <a:t>GRADIENT </a:t>
            </a:r>
            <a:r>
              <a:rPr lang="en-US" altLang="en-US" sz="2000" b="1" dirty="0">
                <a:solidFill>
                  <a:schemeClr val="tx1"/>
                </a:solidFill>
                <a:latin typeface="Times New Roman" panose="02020603050405020304" pitchFamily="18" charset="0"/>
                <a:cs typeface="Times New Roman" panose="02020603050405020304" pitchFamily="18" charset="0"/>
              </a:rPr>
              <a:t>BOOSTING PERFORMANCE</a:t>
            </a:r>
          </a:p>
          <a:p>
            <a:pPr marL="0" lvl="0" indent="0" eaLnBrk="0" fontAlgn="base" hangingPunct="0">
              <a:lnSpc>
                <a:spcPct val="100000"/>
              </a:lnSpc>
              <a:spcBef>
                <a:spcPct val="0"/>
              </a:spcBef>
              <a:spcAft>
                <a:spcPct val="0"/>
              </a:spcAft>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2000" dirty="0">
                <a:solidFill>
                  <a:schemeClr val="tx1"/>
                </a:solidFill>
                <a:latin typeface="Times New Roman" panose="02020603050405020304" pitchFamily="18" charset="0"/>
                <a:cs typeface="Times New Roman" panose="02020603050405020304" pitchFamily="18" charset="0"/>
              </a:rPr>
              <a:t>Metrics (Threshold = 0.5):</a:t>
            </a:r>
          </a:p>
          <a:p>
            <a:pPr marL="0" lvl="0" indent="0" eaLnBrk="0" fontAlgn="base" hangingPunct="0">
              <a:lnSpc>
                <a:spcPct val="100000"/>
              </a:lnSpc>
              <a:spcBef>
                <a:spcPct val="0"/>
              </a:spcBef>
              <a:spcAft>
                <a:spcPct val="0"/>
              </a:spcAft>
              <a:buNone/>
            </a:pPr>
            <a:r>
              <a:rPr lang="en-US" altLang="en-US" sz="2000" dirty="0" smtClean="0">
                <a:solidFill>
                  <a:schemeClr val="tx1"/>
                </a:solidFill>
                <a:latin typeface="Times New Roman" panose="02020603050405020304" pitchFamily="18" charset="0"/>
                <a:cs typeface="Times New Roman" panose="02020603050405020304" pitchFamily="18" charset="0"/>
              </a:rPr>
              <a:t>	├─ </a:t>
            </a:r>
            <a:r>
              <a:rPr lang="en-US" altLang="en-US" sz="2000" dirty="0">
                <a:solidFill>
                  <a:schemeClr val="tx1"/>
                </a:solidFill>
                <a:latin typeface="Times New Roman" panose="02020603050405020304" pitchFamily="18" charset="0"/>
                <a:cs typeface="Times New Roman" panose="02020603050405020304" pitchFamily="18" charset="0"/>
              </a:rPr>
              <a:t>ROC-AUC: 0.8975 </a:t>
            </a:r>
            <a:r>
              <a:rPr lang="en-AE"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Excellent discrimination</a:t>
            </a:r>
          </a:p>
          <a:p>
            <a:pPr marL="0" lvl="0" indent="0" eaLnBrk="0" fontAlgn="base" hangingPunct="0">
              <a:lnSpc>
                <a:spcPct val="100000"/>
              </a:lnSpc>
              <a:spcBef>
                <a:spcPct val="0"/>
              </a:spcBef>
              <a:spcAft>
                <a:spcPct val="0"/>
              </a:spcAft>
              <a:buNone/>
            </a:pPr>
            <a:r>
              <a:rPr lang="en-US" altLang="en-US" sz="2000" dirty="0" smtClean="0">
                <a:solidFill>
                  <a:schemeClr val="tx1"/>
                </a:solidFill>
                <a:latin typeface="Times New Roman" panose="02020603050405020304" pitchFamily="18" charset="0"/>
                <a:cs typeface="Times New Roman" panose="02020603050405020304" pitchFamily="18" charset="0"/>
              </a:rPr>
              <a:t>	├─ </a:t>
            </a:r>
            <a:r>
              <a:rPr lang="en-US" altLang="en-US" sz="2000" dirty="0">
                <a:solidFill>
                  <a:schemeClr val="tx1"/>
                </a:solidFill>
                <a:latin typeface="Times New Roman" panose="02020603050405020304" pitchFamily="18" charset="0"/>
                <a:cs typeface="Times New Roman" panose="02020603050405020304" pitchFamily="18" charset="0"/>
              </a:rPr>
              <a:t>Accuracy: 99.66%</a:t>
            </a:r>
          </a:p>
          <a:p>
            <a:pPr marL="0" lvl="0" indent="0" eaLnBrk="0" fontAlgn="base" hangingPunct="0">
              <a:lnSpc>
                <a:spcPct val="100000"/>
              </a:lnSpc>
              <a:spcBef>
                <a:spcPct val="0"/>
              </a:spcBef>
              <a:spcAft>
                <a:spcPct val="0"/>
              </a:spcAft>
              <a:buNone/>
            </a:pPr>
            <a:r>
              <a:rPr lang="en-US" altLang="en-US" sz="2000" dirty="0" smtClean="0">
                <a:solidFill>
                  <a:schemeClr val="tx1"/>
                </a:solidFill>
                <a:latin typeface="Times New Roman" panose="02020603050405020304" pitchFamily="18" charset="0"/>
                <a:cs typeface="Times New Roman" panose="02020603050405020304" pitchFamily="18" charset="0"/>
              </a:rPr>
              <a:t>	├─ </a:t>
            </a:r>
            <a:r>
              <a:rPr lang="en-US" altLang="en-US" sz="2000" dirty="0">
                <a:solidFill>
                  <a:schemeClr val="tx1"/>
                </a:solidFill>
                <a:latin typeface="Times New Roman" panose="02020603050405020304" pitchFamily="18" charset="0"/>
                <a:cs typeface="Times New Roman" panose="02020603050405020304" pitchFamily="18" charset="0"/>
              </a:rPr>
              <a:t>Precision: 76.74%</a:t>
            </a:r>
          </a:p>
          <a:p>
            <a:pPr marL="0" lvl="0" indent="0" eaLnBrk="0" fontAlgn="base" hangingPunct="0">
              <a:lnSpc>
                <a:spcPct val="100000"/>
              </a:lnSpc>
              <a:spcBef>
                <a:spcPct val="0"/>
              </a:spcBef>
              <a:spcAft>
                <a:spcPct val="0"/>
              </a:spcAft>
              <a:buNone/>
            </a:pPr>
            <a:r>
              <a:rPr lang="en-US" altLang="en-US" sz="2000" dirty="0" smtClean="0">
                <a:solidFill>
                  <a:schemeClr val="tx1"/>
                </a:solidFill>
                <a:latin typeface="Times New Roman" panose="02020603050405020304" pitchFamily="18" charset="0"/>
                <a:cs typeface="Times New Roman" panose="02020603050405020304" pitchFamily="18" charset="0"/>
              </a:rPr>
              <a:t>	├─ </a:t>
            </a:r>
            <a:r>
              <a:rPr lang="en-US" altLang="en-US" sz="2000" dirty="0">
                <a:solidFill>
                  <a:schemeClr val="tx1"/>
                </a:solidFill>
                <a:latin typeface="Times New Roman" panose="02020603050405020304" pitchFamily="18" charset="0"/>
                <a:cs typeface="Times New Roman" panose="02020603050405020304" pitchFamily="18" charset="0"/>
              </a:rPr>
              <a:t>Recall: 32.20% </a:t>
            </a:r>
          </a:p>
          <a:p>
            <a:pPr marL="0" lvl="0" indent="0" eaLnBrk="0" fontAlgn="base" hangingPunct="0">
              <a:lnSpc>
                <a:spcPct val="100000"/>
              </a:lnSpc>
              <a:spcBef>
                <a:spcPct val="0"/>
              </a:spcBef>
              <a:spcAft>
                <a:spcPct val="0"/>
              </a:spcAft>
              <a:buNone/>
            </a:pPr>
            <a:r>
              <a:rPr lang="en-US" altLang="en-US" sz="2000" dirty="0" smtClean="0">
                <a:solidFill>
                  <a:schemeClr val="tx1"/>
                </a:solidFill>
                <a:latin typeface="Times New Roman" panose="02020603050405020304" pitchFamily="18" charset="0"/>
                <a:cs typeface="Times New Roman" panose="02020603050405020304" pitchFamily="18" charset="0"/>
              </a:rPr>
              <a:t>	└─ </a:t>
            </a:r>
            <a:r>
              <a:rPr lang="en-US" altLang="en-US" sz="2000" dirty="0">
                <a:solidFill>
                  <a:schemeClr val="tx1"/>
                </a:solidFill>
                <a:latin typeface="Times New Roman" panose="02020603050405020304" pitchFamily="18" charset="0"/>
                <a:cs typeface="Times New Roman" panose="02020603050405020304" pitchFamily="18" charset="0"/>
              </a:rPr>
              <a:t>F1-Score: 0.454</a:t>
            </a:r>
          </a:p>
          <a:p>
            <a:pPr marL="0" lvl="0" indent="0" eaLnBrk="0" fontAlgn="base" hangingPunct="0">
              <a:lnSpc>
                <a:spcPct val="100000"/>
              </a:lnSpc>
              <a:spcBef>
                <a:spcPct val="0"/>
              </a:spcBef>
              <a:spcAft>
                <a:spcPct val="0"/>
              </a:spcAft>
              <a:buNone/>
            </a:pPr>
            <a:endParaRPr lang="en-US" altLang="en-US"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7000" y="1440796"/>
            <a:ext cx="4825346" cy="3852153"/>
          </a:xfrm>
          <a:prstGeom prst="rect">
            <a:avLst/>
          </a:prstGeom>
        </p:spPr>
      </p:pic>
    </p:spTree>
    <p:extLst>
      <p:ext uri="{BB962C8B-B14F-4D97-AF65-F5344CB8AC3E}">
        <p14:creationId xmlns:p14="http://schemas.microsoft.com/office/powerpoint/2010/main" val="32139633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Model Performance - Gradient Boosting</a:t>
            </a:r>
            <a:endParaRPr lang="en-US"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89435"/>
            <a:ext cx="10834234" cy="4640267"/>
          </a:xfrm>
        </p:spPr>
        <p:txBody>
          <a:bodyPr anchor="ctr">
            <a:normAutofit/>
          </a:bodyPr>
          <a:lstStyle/>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Confusion </a:t>
            </a:r>
            <a:r>
              <a:rPr lang="en-US" altLang="en-US" sz="1800" dirty="0">
                <a:solidFill>
                  <a:schemeClr val="tx1"/>
                </a:solidFill>
                <a:latin typeface="Times New Roman" panose="02020603050405020304" pitchFamily="18" charset="0"/>
                <a:cs typeface="Times New Roman" panose="02020603050405020304" pitchFamily="18" charset="0"/>
              </a:rPr>
              <a:t>Matrix:</a:t>
            </a: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altLang="en-US" sz="1800" dirty="0">
                <a:solidFill>
                  <a:schemeClr val="tx1"/>
                </a:solidFill>
                <a:latin typeface="Times New Roman" panose="02020603050405020304" pitchFamily="18" charset="0"/>
                <a:cs typeface="Times New Roman" panose="02020603050405020304" pitchFamily="18" charset="0"/>
              </a:rPr>
              <a:t>True Positives: 66 (correctly identified fatal)</a:t>
            </a: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altLang="en-US" sz="1800" dirty="0">
                <a:solidFill>
                  <a:schemeClr val="tx1"/>
                </a:solidFill>
                <a:latin typeface="Times New Roman" panose="02020603050405020304" pitchFamily="18" charset="0"/>
                <a:cs typeface="Times New Roman" panose="02020603050405020304" pitchFamily="18" charset="0"/>
              </a:rPr>
              <a:t>False Negatives: 139 (MISSED fatal) ⚠️</a:t>
            </a: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altLang="en-US" sz="1800" dirty="0">
                <a:solidFill>
                  <a:schemeClr val="tx1"/>
                </a:solidFill>
                <a:latin typeface="Times New Roman" panose="02020603050405020304" pitchFamily="18" charset="0"/>
                <a:cs typeface="Times New Roman" panose="02020603050405020304" pitchFamily="18" charset="0"/>
              </a:rPr>
              <a:t>False Positives: 20 (false alarms)</a:t>
            </a: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altLang="en-US" sz="1800" dirty="0">
                <a:solidFill>
                  <a:schemeClr val="tx1"/>
                </a:solidFill>
                <a:latin typeface="Times New Roman" panose="02020603050405020304" pitchFamily="18" charset="0"/>
                <a:cs typeface="Times New Roman" panose="02020603050405020304" pitchFamily="18" charset="0"/>
              </a:rPr>
              <a:t>True Negatives: 45,907 (correctly identified injured)</a:t>
            </a:r>
          </a:p>
          <a:p>
            <a:pPr marL="0" lvl="0" indent="0" eaLnBrk="0" fontAlgn="base" hangingPunct="0">
              <a:lnSpc>
                <a:spcPct val="100000"/>
              </a:lnSpc>
              <a:spcBef>
                <a:spcPct val="0"/>
              </a:spcBef>
              <a:spcAft>
                <a:spcPct val="0"/>
              </a:spcAft>
              <a:buNone/>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CRITICAL </a:t>
            </a:r>
            <a:r>
              <a:rPr lang="en-US" altLang="en-US" sz="1800" dirty="0">
                <a:solidFill>
                  <a:schemeClr val="tx1"/>
                </a:solidFill>
                <a:latin typeface="Times New Roman" panose="02020603050405020304" pitchFamily="18" charset="0"/>
                <a:cs typeface="Times New Roman" panose="02020603050405020304" pitchFamily="18" charset="0"/>
              </a:rPr>
              <a:t>ISSUE:</a:t>
            </a:r>
          </a:p>
          <a:p>
            <a:pPr marL="0" lvl="0" indent="0" eaLnBrk="0" fontAlgn="base" hangingPunct="0">
              <a:lnSpc>
                <a:spcPct val="100000"/>
              </a:lnSpc>
              <a:spcBef>
                <a:spcPct val="0"/>
              </a:spcBef>
              <a:spcAft>
                <a:spcPct val="0"/>
              </a:spcAft>
              <a:buNone/>
            </a:pPr>
            <a:r>
              <a:rPr lang="en-US" altLang="en-US" sz="1800" dirty="0">
                <a:solidFill>
                  <a:schemeClr val="tx1"/>
                </a:solidFill>
                <a:latin typeface="Times New Roman" panose="02020603050405020304" pitchFamily="18" charset="0"/>
                <a:cs typeface="Times New Roman" panose="02020603050405020304" pitchFamily="18" charset="0"/>
              </a:rPr>
              <a:t>Misses 139 out of 205 fatal cases (67.8%)</a:t>
            </a:r>
          </a:p>
          <a:p>
            <a:pPr marL="0" lvl="0" indent="0" eaLnBrk="0" fontAlgn="base" hangingPunct="0">
              <a:lnSpc>
                <a:spcPct val="100000"/>
              </a:lnSpc>
              <a:spcBef>
                <a:spcPct val="0"/>
              </a:spcBef>
              <a:spcAft>
                <a:spcPct val="0"/>
              </a:spcAft>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altLang="en-US" sz="1800" dirty="0">
                <a:solidFill>
                  <a:schemeClr val="tx1"/>
                </a:solidFill>
                <a:latin typeface="Times New Roman" panose="02020603050405020304" pitchFamily="18" charset="0"/>
                <a:cs typeface="Times New Roman" panose="02020603050405020304" pitchFamily="18" charset="0"/>
              </a:rPr>
              <a:t>Unacceptable for emergency response!</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00182" y="1761190"/>
            <a:ext cx="4612936" cy="3550112"/>
          </a:xfrm>
          <a:prstGeom prst="rect">
            <a:avLst/>
          </a:prstGeom>
        </p:spPr>
      </p:pic>
    </p:spTree>
    <p:extLst>
      <p:ext uri="{BB962C8B-B14F-4D97-AF65-F5344CB8AC3E}">
        <p14:creationId xmlns:p14="http://schemas.microsoft.com/office/powerpoint/2010/main" val="27682136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latin typeface="Imprint MT Shadow" panose="04020605060303030202" pitchFamily="82" charset="0"/>
              </a:rPr>
              <a:t>Threshold Optimization</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nchor="ctr">
            <a:noAutofit/>
          </a:bodyPr>
          <a:lstStyle/>
          <a:p>
            <a:pPr marL="0" indent="0">
              <a:buNone/>
            </a:pPr>
            <a:r>
              <a:rPr lang="en-US" sz="1800" dirty="0" smtClean="0">
                <a:latin typeface="Times New Roman" panose="02020603050405020304" pitchFamily="18" charset="0"/>
                <a:cs typeface="Times New Roman" panose="02020603050405020304" pitchFamily="18" charset="0"/>
              </a:rPr>
              <a:t>Problem: Default threshold (0.5) too conservative</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sz="1800" dirty="0" smtClean="0">
                <a:latin typeface="Times New Roman" panose="02020603050405020304" pitchFamily="18" charset="0"/>
                <a:cs typeface="Times New Roman" panose="02020603050405020304" pitchFamily="18" charset="0"/>
              </a:rPr>
              <a:t>Only </a:t>
            </a:r>
            <a:r>
              <a:rPr lang="en-US" sz="1800" dirty="0">
                <a:latin typeface="Times New Roman" panose="02020603050405020304" pitchFamily="18" charset="0"/>
                <a:cs typeface="Times New Roman" panose="02020603050405020304" pitchFamily="18" charset="0"/>
              </a:rPr>
              <a:t>catches 32% of fatal cases</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 </a:t>
            </a:r>
            <a:r>
              <a:rPr lang="en-US" sz="1800" dirty="0" smtClean="0">
                <a:latin typeface="Times New Roman" panose="02020603050405020304" pitchFamily="18" charset="0"/>
                <a:cs typeface="Times New Roman" panose="02020603050405020304" pitchFamily="18" charset="0"/>
              </a:rPr>
              <a:t>Misses </a:t>
            </a:r>
            <a:r>
              <a:rPr lang="en-US" sz="1800" dirty="0">
                <a:latin typeface="Times New Roman" panose="02020603050405020304" pitchFamily="18" charset="0"/>
                <a:cs typeface="Times New Roman" panose="02020603050405020304" pitchFamily="18" charset="0"/>
              </a:rPr>
              <a:t>68% of </a:t>
            </a:r>
            <a:r>
              <a:rPr lang="en-US" sz="1800" dirty="0" smtClean="0">
                <a:latin typeface="Times New Roman" panose="02020603050405020304" pitchFamily="18" charset="0"/>
                <a:cs typeface="Times New Roman" panose="02020603050405020304" pitchFamily="18" charset="0"/>
              </a:rPr>
              <a:t>fatalities</a:t>
            </a: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Solution: Lower decision threshold</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Tested thresholds: 0.5 → 0.1</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Trade-off: Recall ↑ but False Alarms ↑</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Goal: Find optimal </a:t>
            </a:r>
            <a:r>
              <a:rPr lang="en-US" sz="1800" dirty="0" smtClean="0">
                <a:latin typeface="Times New Roman" panose="02020603050405020304" pitchFamily="18" charset="0"/>
                <a:cs typeface="Times New Roman" panose="02020603050405020304" pitchFamily="18" charset="0"/>
              </a:rPr>
              <a:t>balance</a:t>
            </a:r>
            <a:endParaRPr lang="en-US" sz="1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34617038"/>
              </p:ext>
            </p:extLst>
          </p:nvPr>
        </p:nvGraphicFramePr>
        <p:xfrm>
          <a:off x="4951377" y="2976662"/>
          <a:ext cx="6959600" cy="2684837"/>
        </p:xfrm>
        <a:graphic>
          <a:graphicData uri="http://schemas.openxmlformats.org/drawingml/2006/table">
            <a:tbl>
              <a:tblPr firstRow="1" bandRow="1">
                <a:tableStyleId>{5C22544A-7EE6-4342-B048-85BDC9FD1C3A}</a:tableStyleId>
              </a:tblPr>
              <a:tblGrid>
                <a:gridCol w="1391920">
                  <a:extLst>
                    <a:ext uri="{9D8B030D-6E8A-4147-A177-3AD203B41FA5}">
                      <a16:colId xmlns:a16="http://schemas.microsoft.com/office/drawing/2014/main" val="3501074982"/>
                    </a:ext>
                  </a:extLst>
                </a:gridCol>
                <a:gridCol w="1391920">
                  <a:extLst>
                    <a:ext uri="{9D8B030D-6E8A-4147-A177-3AD203B41FA5}">
                      <a16:colId xmlns:a16="http://schemas.microsoft.com/office/drawing/2014/main" val="954831507"/>
                    </a:ext>
                  </a:extLst>
                </a:gridCol>
                <a:gridCol w="1391920">
                  <a:extLst>
                    <a:ext uri="{9D8B030D-6E8A-4147-A177-3AD203B41FA5}">
                      <a16:colId xmlns:a16="http://schemas.microsoft.com/office/drawing/2014/main" val="807135130"/>
                    </a:ext>
                  </a:extLst>
                </a:gridCol>
                <a:gridCol w="1391920">
                  <a:extLst>
                    <a:ext uri="{9D8B030D-6E8A-4147-A177-3AD203B41FA5}">
                      <a16:colId xmlns:a16="http://schemas.microsoft.com/office/drawing/2014/main" val="3856582454"/>
                    </a:ext>
                  </a:extLst>
                </a:gridCol>
                <a:gridCol w="1391920">
                  <a:extLst>
                    <a:ext uri="{9D8B030D-6E8A-4147-A177-3AD203B41FA5}">
                      <a16:colId xmlns:a16="http://schemas.microsoft.com/office/drawing/2014/main" val="3474736108"/>
                    </a:ext>
                  </a:extLst>
                </a:gridCol>
              </a:tblGrid>
              <a:tr h="785165">
                <a:tc>
                  <a:txBody>
                    <a:bodyPr/>
                    <a:lstStyle/>
                    <a:p>
                      <a:r>
                        <a:rPr lang="en-US" dirty="0"/>
                        <a:t>Threshold</a:t>
                      </a:r>
                    </a:p>
                  </a:txBody>
                  <a:tcPr anchor="ctr"/>
                </a:tc>
                <a:tc>
                  <a:txBody>
                    <a:bodyPr/>
                    <a:lstStyle/>
                    <a:p>
                      <a:r>
                        <a:rPr lang="en-US" dirty="0"/>
                        <a:t>Recall</a:t>
                      </a:r>
                    </a:p>
                  </a:txBody>
                  <a:tcPr anchor="ctr"/>
                </a:tc>
                <a:tc>
                  <a:txBody>
                    <a:bodyPr/>
                    <a:lstStyle/>
                    <a:p>
                      <a:r>
                        <a:rPr lang="en-US"/>
                        <a:t>Precision</a:t>
                      </a:r>
                    </a:p>
                  </a:txBody>
                  <a:tcPr anchor="ctr"/>
                </a:tc>
                <a:tc>
                  <a:txBody>
                    <a:bodyPr/>
                    <a:lstStyle/>
                    <a:p>
                      <a:r>
                        <a:rPr lang="en-US"/>
                        <a:t>False Alarms</a:t>
                      </a:r>
                    </a:p>
                  </a:txBody>
                  <a:tcPr anchor="ctr"/>
                </a:tc>
                <a:tc>
                  <a:txBody>
                    <a:bodyPr/>
                    <a:lstStyle/>
                    <a:p>
                      <a:r>
                        <a:rPr lang="en-US"/>
                        <a:t>Fatal Missed</a:t>
                      </a:r>
                    </a:p>
                  </a:txBody>
                  <a:tcPr anchor="ctr"/>
                </a:tc>
                <a:extLst>
                  <a:ext uri="{0D108BD9-81ED-4DB2-BD59-A6C34878D82A}">
                    <a16:rowId xmlns:a16="http://schemas.microsoft.com/office/drawing/2014/main" val="3584127821"/>
                  </a:ext>
                </a:extLst>
              </a:tr>
              <a:tr h="474918">
                <a:tc>
                  <a:txBody>
                    <a:bodyPr/>
                    <a:lstStyle/>
                    <a:p>
                      <a:r>
                        <a:rPr lang="en-AE" dirty="0"/>
                        <a:t>0.50</a:t>
                      </a:r>
                    </a:p>
                  </a:txBody>
                  <a:tcPr anchor="ctr"/>
                </a:tc>
                <a:tc>
                  <a:txBody>
                    <a:bodyPr/>
                    <a:lstStyle/>
                    <a:p>
                      <a:r>
                        <a:rPr lang="en-AE"/>
                        <a:t>32.2%</a:t>
                      </a:r>
                    </a:p>
                  </a:txBody>
                  <a:tcPr anchor="ctr"/>
                </a:tc>
                <a:tc>
                  <a:txBody>
                    <a:bodyPr/>
                    <a:lstStyle/>
                    <a:p>
                      <a:r>
                        <a:rPr lang="en-AE"/>
                        <a:t>76.7%</a:t>
                      </a:r>
                    </a:p>
                  </a:txBody>
                  <a:tcPr anchor="ctr"/>
                </a:tc>
                <a:tc>
                  <a:txBody>
                    <a:bodyPr/>
                    <a:lstStyle/>
                    <a:p>
                      <a:r>
                        <a:rPr lang="en-AE"/>
                        <a:t>20</a:t>
                      </a:r>
                    </a:p>
                  </a:txBody>
                  <a:tcPr anchor="ctr"/>
                </a:tc>
                <a:tc>
                  <a:txBody>
                    <a:bodyPr/>
                    <a:lstStyle/>
                    <a:p>
                      <a:r>
                        <a:rPr lang="en-AE"/>
                        <a:t>139</a:t>
                      </a:r>
                    </a:p>
                  </a:txBody>
                  <a:tcPr anchor="ctr"/>
                </a:tc>
                <a:extLst>
                  <a:ext uri="{0D108BD9-81ED-4DB2-BD59-A6C34878D82A}">
                    <a16:rowId xmlns:a16="http://schemas.microsoft.com/office/drawing/2014/main" val="3371523090"/>
                  </a:ext>
                </a:extLst>
              </a:tr>
              <a:tr h="474918">
                <a:tc>
                  <a:txBody>
                    <a:bodyPr/>
                    <a:lstStyle/>
                    <a:p>
                      <a:r>
                        <a:rPr lang="en-AE"/>
                        <a:t>0.40</a:t>
                      </a:r>
                    </a:p>
                  </a:txBody>
                  <a:tcPr anchor="ctr"/>
                </a:tc>
                <a:tc>
                  <a:txBody>
                    <a:bodyPr/>
                    <a:lstStyle/>
                    <a:p>
                      <a:r>
                        <a:rPr lang="en-AE"/>
                        <a:t>39.0%</a:t>
                      </a:r>
                    </a:p>
                  </a:txBody>
                  <a:tcPr anchor="ctr"/>
                </a:tc>
                <a:tc>
                  <a:txBody>
                    <a:bodyPr/>
                    <a:lstStyle/>
                    <a:p>
                      <a:r>
                        <a:rPr lang="en-AE"/>
                        <a:t>45.2%</a:t>
                      </a:r>
                    </a:p>
                  </a:txBody>
                  <a:tcPr anchor="ctr"/>
                </a:tc>
                <a:tc>
                  <a:txBody>
                    <a:bodyPr/>
                    <a:lstStyle/>
                    <a:p>
                      <a:r>
                        <a:rPr lang="en-AE"/>
                        <a:t>67</a:t>
                      </a:r>
                    </a:p>
                  </a:txBody>
                  <a:tcPr anchor="ctr"/>
                </a:tc>
                <a:tc>
                  <a:txBody>
                    <a:bodyPr/>
                    <a:lstStyle/>
                    <a:p>
                      <a:r>
                        <a:rPr lang="en-AE"/>
                        <a:t>125</a:t>
                      </a:r>
                    </a:p>
                  </a:txBody>
                  <a:tcPr anchor="ctr"/>
                </a:tc>
                <a:extLst>
                  <a:ext uri="{0D108BD9-81ED-4DB2-BD59-A6C34878D82A}">
                    <a16:rowId xmlns:a16="http://schemas.microsoft.com/office/drawing/2014/main" val="42057603"/>
                  </a:ext>
                </a:extLst>
              </a:tr>
              <a:tr h="474918">
                <a:tc>
                  <a:txBody>
                    <a:bodyPr/>
                    <a:lstStyle/>
                    <a:p>
                      <a:r>
                        <a:rPr lang="en-AE" b="1"/>
                        <a:t>0.30</a:t>
                      </a:r>
                      <a:endParaRPr lang="en-AE"/>
                    </a:p>
                  </a:txBody>
                  <a:tcPr anchor="ctr"/>
                </a:tc>
                <a:tc>
                  <a:txBody>
                    <a:bodyPr/>
                    <a:lstStyle/>
                    <a:p>
                      <a:r>
                        <a:rPr lang="en-AE" b="1"/>
                        <a:t>47.3%</a:t>
                      </a:r>
                      <a:endParaRPr lang="en-AE"/>
                    </a:p>
                  </a:txBody>
                  <a:tcPr anchor="ctr"/>
                </a:tc>
                <a:tc>
                  <a:txBody>
                    <a:bodyPr/>
                    <a:lstStyle/>
                    <a:p>
                      <a:r>
                        <a:rPr lang="en-AE"/>
                        <a:t>25.1%</a:t>
                      </a:r>
                    </a:p>
                  </a:txBody>
                  <a:tcPr anchor="ctr"/>
                </a:tc>
                <a:tc>
                  <a:txBody>
                    <a:bodyPr/>
                    <a:lstStyle/>
                    <a:p>
                      <a:r>
                        <a:rPr lang="en-AE"/>
                        <a:t>152</a:t>
                      </a:r>
                    </a:p>
                  </a:txBody>
                  <a:tcPr anchor="ctr"/>
                </a:tc>
                <a:tc>
                  <a:txBody>
                    <a:bodyPr/>
                    <a:lstStyle/>
                    <a:p>
                      <a:r>
                        <a:rPr lang="en-AE"/>
                        <a:t>108</a:t>
                      </a:r>
                    </a:p>
                  </a:txBody>
                  <a:tcPr anchor="ctr"/>
                </a:tc>
                <a:extLst>
                  <a:ext uri="{0D108BD9-81ED-4DB2-BD59-A6C34878D82A}">
                    <a16:rowId xmlns:a16="http://schemas.microsoft.com/office/drawing/2014/main" val="613755208"/>
                  </a:ext>
                </a:extLst>
              </a:tr>
              <a:tr h="474918">
                <a:tc>
                  <a:txBody>
                    <a:bodyPr/>
                    <a:lstStyle/>
                    <a:p>
                      <a:r>
                        <a:rPr lang="en-AE"/>
                        <a:t>0.20</a:t>
                      </a:r>
                    </a:p>
                  </a:txBody>
                  <a:tcPr anchor="ctr"/>
                </a:tc>
                <a:tc>
                  <a:txBody>
                    <a:bodyPr/>
                    <a:lstStyle/>
                    <a:p>
                      <a:r>
                        <a:rPr lang="en-AE"/>
                        <a:t>58.5%</a:t>
                      </a:r>
                    </a:p>
                  </a:txBody>
                  <a:tcPr anchor="ctr"/>
                </a:tc>
                <a:tc>
                  <a:txBody>
                    <a:bodyPr/>
                    <a:lstStyle/>
                    <a:p>
                      <a:r>
                        <a:rPr lang="en-AE"/>
                        <a:t>12.3%</a:t>
                      </a:r>
                    </a:p>
                  </a:txBody>
                  <a:tcPr anchor="ctr"/>
                </a:tc>
                <a:tc>
                  <a:txBody>
                    <a:bodyPr/>
                    <a:lstStyle/>
                    <a:p>
                      <a:r>
                        <a:rPr lang="en-AE"/>
                        <a:t>456</a:t>
                      </a:r>
                    </a:p>
                  </a:txBody>
                  <a:tcPr anchor="ctr"/>
                </a:tc>
                <a:tc>
                  <a:txBody>
                    <a:bodyPr/>
                    <a:lstStyle/>
                    <a:p>
                      <a:r>
                        <a:rPr lang="en-AE" dirty="0"/>
                        <a:t>85</a:t>
                      </a:r>
                    </a:p>
                  </a:txBody>
                  <a:tcPr anchor="ctr"/>
                </a:tc>
                <a:extLst>
                  <a:ext uri="{0D108BD9-81ED-4DB2-BD59-A6C34878D82A}">
                    <a16:rowId xmlns:a16="http://schemas.microsoft.com/office/drawing/2014/main" val="661492439"/>
                  </a:ext>
                </a:extLst>
              </a:tr>
            </a:tbl>
          </a:graphicData>
        </a:graphic>
      </p:graphicFrame>
      <p:sp>
        <p:nvSpPr>
          <p:cNvPr id="7" name="TextBox 6"/>
          <p:cNvSpPr txBox="1"/>
          <p:nvPr/>
        </p:nvSpPr>
        <p:spPr>
          <a:xfrm>
            <a:off x="7996136" y="2489963"/>
            <a:ext cx="2081719" cy="369332"/>
          </a:xfrm>
          <a:prstGeom prst="rect">
            <a:avLst/>
          </a:prstGeom>
          <a:noFill/>
        </p:spPr>
        <p:txBody>
          <a:bodyPr wrap="square" rtlCol="0">
            <a:spAutoFit/>
          </a:bodyPr>
          <a:lstStyle/>
          <a:p>
            <a:r>
              <a:rPr lang="en-US" dirty="0" smtClean="0">
                <a:latin typeface="Stencil" panose="040409050D0802020404" pitchFamily="82" charset="0"/>
              </a:rPr>
              <a:t>RESULTS</a:t>
            </a:r>
            <a:endParaRPr lang="en-US" dirty="0">
              <a:latin typeface="Stencil" panose="040409050D0802020404" pitchFamily="82" charset="0"/>
            </a:endParaRPr>
          </a:p>
        </p:txBody>
      </p:sp>
    </p:spTree>
    <p:extLst>
      <p:ext uri="{BB962C8B-B14F-4D97-AF65-F5344CB8AC3E}">
        <p14:creationId xmlns:p14="http://schemas.microsoft.com/office/powerpoint/2010/main" val="38655026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latin typeface="Imprint MT Shadow" panose="04020605060303030202" pitchFamily="82" charset="0"/>
              </a:rPr>
              <a:t>Threshold Optimization</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7206144" y="2546592"/>
            <a:ext cx="5138256" cy="3028384"/>
          </a:xfrm>
        </p:spPr>
        <p:txBody>
          <a:bodyPr anchor="ctr">
            <a:noAutofit/>
          </a:bodyPr>
          <a:lstStyle/>
          <a:p>
            <a:pPr marL="0" indent="0">
              <a:buNone/>
            </a:pPr>
            <a:r>
              <a:rPr lang="en-US" sz="1800" dirty="0">
                <a:latin typeface="Times New Roman" panose="02020603050405020304" pitchFamily="18" charset="0"/>
                <a:cs typeface="Times New Roman" panose="02020603050405020304" pitchFamily="18" charset="0"/>
              </a:rPr>
              <a:t>Recommended: Threshold 0.30</a:t>
            </a:r>
          </a:p>
          <a:p>
            <a:pPr marL="0" indent="0">
              <a:buNone/>
            </a:pP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Catches 97 out of 205 fatal cases (47%)</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152 false alarms (acceptable)</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Reduces missed fatalities by 22%</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884" y="1391055"/>
            <a:ext cx="6292775" cy="4183921"/>
          </a:xfrm>
          <a:prstGeom prst="rect">
            <a:avLst/>
          </a:prstGeom>
        </p:spPr>
      </p:pic>
    </p:spTree>
    <p:extLst>
      <p:ext uri="{BB962C8B-B14F-4D97-AF65-F5344CB8AC3E}">
        <p14:creationId xmlns:p14="http://schemas.microsoft.com/office/powerpoint/2010/main" val="35906172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latin typeface="Imprint MT Shadow" panose="04020605060303030202" pitchFamily="82" charset="0"/>
              </a:rPr>
              <a:t>Business-Driven Model Selection</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fontScale="550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2900" dirty="0" smtClean="0">
                <a:latin typeface="Stencil" panose="040409050D0802020404" pitchFamily="82" charset="0"/>
              </a:rPr>
              <a:t>Two </a:t>
            </a:r>
            <a:r>
              <a:rPr lang="en-US" sz="2900" dirty="0">
                <a:latin typeface="Stencil" panose="040409050D0802020404" pitchFamily="82" charset="0"/>
              </a:rPr>
              <a:t>Strategies Compared:</a:t>
            </a:r>
          </a:p>
          <a:p>
            <a:pPr marL="0" indent="0">
              <a:buNone/>
            </a:pPr>
            <a:endParaRPr lang="en-US" sz="7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Strategy A: Optimize for ROC-AUC</a:t>
            </a:r>
          </a:p>
          <a:p>
            <a:pPr marL="0" indent="0">
              <a:buNone/>
            </a:pPr>
            <a:r>
              <a:rPr lang="en-US" sz="2900" dirty="0" smtClean="0">
                <a:latin typeface="Times New Roman" panose="02020603050405020304" pitchFamily="18" charset="0"/>
                <a:cs typeface="Times New Roman" panose="02020603050405020304" pitchFamily="18" charset="0"/>
              </a:rPr>
              <a:t>      </a:t>
            </a:r>
            <a:r>
              <a:rPr lang="en-US" altLang="en-US" sz="3200" dirty="0">
                <a:solidFill>
                  <a:schemeClr val="tx1"/>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Model</a:t>
            </a:r>
            <a:r>
              <a:rPr lang="en-US" sz="2900" dirty="0">
                <a:latin typeface="Times New Roman" panose="02020603050405020304" pitchFamily="18" charset="0"/>
                <a:cs typeface="Times New Roman" panose="02020603050405020304" pitchFamily="18" charset="0"/>
              </a:rPr>
              <a:t>: Gradient Boosting</a:t>
            </a:r>
          </a:p>
          <a:p>
            <a:pPr marL="0" indent="0">
              <a:buNone/>
            </a:pPr>
            <a:r>
              <a:rPr lang="en-US" sz="2900" dirty="0" smtClean="0">
                <a:latin typeface="Times New Roman" panose="02020603050405020304" pitchFamily="18" charset="0"/>
                <a:cs typeface="Times New Roman" panose="02020603050405020304" pitchFamily="18" charset="0"/>
              </a:rPr>
              <a:t>      </a:t>
            </a:r>
            <a:r>
              <a:rPr lang="en-US" altLang="en-US" sz="3200" dirty="0" smtClean="0">
                <a:solidFill>
                  <a:schemeClr val="tx1"/>
                </a:solidFill>
                <a:latin typeface="Times New Roman" panose="02020603050405020304" pitchFamily="18" charset="0"/>
                <a:cs typeface="Times New Roman" panose="02020603050405020304" pitchFamily="18" charset="0"/>
              </a:rPr>
              <a:t>├─</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ROC-AUC: 0.8975 (best)</a:t>
            </a:r>
          </a:p>
          <a:p>
            <a:pPr marL="0" indent="0">
              <a:buNone/>
            </a:pPr>
            <a:r>
              <a:rPr lang="en-US" sz="2900" dirty="0" smtClean="0">
                <a:latin typeface="Times New Roman" panose="02020603050405020304" pitchFamily="18" charset="0"/>
                <a:cs typeface="Times New Roman" panose="02020603050405020304" pitchFamily="18" charset="0"/>
              </a:rPr>
              <a:t>      </a:t>
            </a:r>
            <a:r>
              <a:rPr lang="en-US" altLang="en-US" sz="3200" dirty="0" smtClean="0">
                <a:solidFill>
                  <a:schemeClr val="tx1"/>
                </a:solidFill>
                <a:latin typeface="Times New Roman" panose="02020603050405020304" pitchFamily="18" charset="0"/>
                <a:cs typeface="Times New Roman" panose="02020603050405020304" pitchFamily="18" charset="0"/>
              </a:rPr>
              <a:t>├─</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Recall: 47.3% (with threshold 0.3)</a:t>
            </a:r>
          </a:p>
          <a:p>
            <a:pPr marL="0" indent="0">
              <a:buNone/>
            </a:pPr>
            <a:r>
              <a:rPr lang="en-US" sz="2900" dirty="0" smtClean="0">
                <a:latin typeface="Times New Roman" panose="02020603050405020304" pitchFamily="18" charset="0"/>
                <a:cs typeface="Times New Roman" panose="02020603050405020304" pitchFamily="18" charset="0"/>
              </a:rPr>
              <a:t>      </a:t>
            </a:r>
            <a:r>
              <a:rPr lang="en-US" altLang="en-US" sz="3200" dirty="0" smtClean="0">
                <a:solidFill>
                  <a:schemeClr val="tx1"/>
                </a:solidFill>
                <a:latin typeface="Times New Roman" panose="02020603050405020304" pitchFamily="18" charset="0"/>
                <a:cs typeface="Times New Roman" panose="02020603050405020304" pitchFamily="18" charset="0"/>
              </a:rPr>
              <a:t>├─</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False Alarms: 152</a:t>
            </a:r>
          </a:p>
          <a:p>
            <a:pPr marL="0" indent="0">
              <a:buNone/>
            </a:pPr>
            <a:r>
              <a:rPr lang="en-US" sz="2900" dirty="0" smtClean="0">
                <a:latin typeface="Times New Roman" panose="02020603050405020304" pitchFamily="18" charset="0"/>
                <a:cs typeface="Times New Roman" panose="02020603050405020304" pitchFamily="18" charset="0"/>
              </a:rPr>
              <a:t>      </a:t>
            </a:r>
            <a:r>
              <a:rPr lang="en-US" altLang="en-US" sz="3200" dirty="0" smtClean="0">
                <a:solidFill>
                  <a:schemeClr val="tx1"/>
                </a:solidFill>
                <a:latin typeface="Times New Roman" panose="02020603050405020304" pitchFamily="18" charset="0"/>
                <a:cs typeface="Times New Roman" panose="02020603050405020304" pitchFamily="18" charset="0"/>
              </a:rPr>
              <a:t>└─</a:t>
            </a:r>
            <a:r>
              <a:rPr lang="en-US" sz="3200" dirty="0" smtClean="0">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Case </a:t>
            </a:r>
            <a:r>
              <a:rPr lang="en-US" sz="2900" dirty="0">
                <a:latin typeface="Times New Roman" panose="02020603050405020304" pitchFamily="18" charset="0"/>
                <a:cs typeface="Times New Roman" panose="02020603050405020304" pitchFamily="18" charset="0"/>
              </a:rPr>
              <a:t>case: Research, ranking</a:t>
            </a:r>
          </a:p>
          <a:p>
            <a:pPr marL="0" indent="0">
              <a:buNone/>
            </a:pPr>
            <a:endParaRPr lang="en-US" sz="2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Strategy B: Optimize for Recall</a:t>
            </a:r>
          </a:p>
          <a:p>
            <a:pPr marL="0" indent="0">
              <a:buNone/>
            </a:pPr>
            <a:r>
              <a:rPr lang="en-US" altLang="en-US" sz="3200" dirty="0" smtClean="0">
                <a:solidFill>
                  <a:schemeClr val="tx1"/>
                </a:solidFill>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Model</a:t>
            </a:r>
            <a:r>
              <a:rPr lang="en-US" sz="2900" dirty="0">
                <a:latin typeface="Times New Roman" panose="02020603050405020304" pitchFamily="18" charset="0"/>
                <a:cs typeface="Times New Roman" panose="02020603050405020304" pitchFamily="18" charset="0"/>
              </a:rPr>
              <a:t>: Logistic Regression</a:t>
            </a:r>
          </a:p>
          <a:p>
            <a:pPr marL="0" indent="0">
              <a:buNone/>
            </a:pPr>
            <a:r>
              <a:rPr lang="en-US" altLang="en-US" sz="3200" dirty="0" smtClean="0">
                <a:solidFill>
                  <a:schemeClr val="tx1"/>
                </a:solidFill>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ROC-AUC: 0.8509 (slightly lower)</a:t>
            </a:r>
          </a:p>
          <a:p>
            <a:pPr marL="0" indent="0">
              <a:buNone/>
            </a:pPr>
            <a:r>
              <a:rPr lang="en-US" altLang="en-US" sz="3200" dirty="0" smtClean="0">
                <a:solidFill>
                  <a:schemeClr val="tx1"/>
                </a:solidFill>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Recall: 78.0% </a:t>
            </a:r>
            <a:r>
              <a:rPr lang="en-AE" sz="2900" dirty="0">
                <a:latin typeface="Times New Roman" panose="02020603050405020304" pitchFamily="18" charset="0"/>
                <a:cs typeface="Times New Roman" panose="02020603050405020304" pitchFamily="18" charset="0"/>
              </a:rPr>
              <a:t>⭐</a:t>
            </a:r>
          </a:p>
          <a:p>
            <a:pPr marL="0" indent="0">
              <a:buNone/>
            </a:pPr>
            <a:r>
              <a:rPr lang="en-US" altLang="en-US" sz="3200" dirty="0" smtClean="0">
                <a:solidFill>
                  <a:schemeClr val="tx1"/>
                </a:solidFill>
                <a:latin typeface="Times New Roman" panose="02020603050405020304" pitchFamily="18" charset="0"/>
                <a:cs typeface="Times New Roman" panose="02020603050405020304" pitchFamily="18" charset="0"/>
              </a:rPr>
              <a:t>     ├─</a:t>
            </a:r>
            <a:r>
              <a:rPr lang="en-AE"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False Alarms: 10,209 </a:t>
            </a:r>
          </a:p>
          <a:p>
            <a:pPr marL="0" indent="0">
              <a:buNone/>
            </a:pPr>
            <a:r>
              <a:rPr lang="en-US" altLang="en-US" sz="3200" dirty="0" smtClean="0">
                <a:solidFill>
                  <a:schemeClr val="tx1"/>
                </a:solidFill>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Use case: Maximum </a:t>
            </a:r>
            <a:r>
              <a:rPr lang="en-US" sz="2900" dirty="0" smtClean="0">
                <a:latin typeface="Times New Roman" panose="02020603050405020304" pitchFamily="18" charset="0"/>
                <a:cs typeface="Times New Roman" panose="02020603050405020304" pitchFamily="18" charset="0"/>
              </a:rPr>
              <a:t>detection</a:t>
            </a:r>
            <a:endParaRPr lang="en-US" sz="29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4283" b="48112"/>
          <a:stretch/>
        </p:blipFill>
        <p:spPr>
          <a:xfrm>
            <a:off x="4406630" y="1536871"/>
            <a:ext cx="7608381" cy="2957308"/>
          </a:xfrm>
          <a:prstGeom prst="rect">
            <a:avLst/>
          </a:prstGeom>
        </p:spPr>
      </p:pic>
    </p:spTree>
    <p:extLst>
      <p:ext uri="{BB962C8B-B14F-4D97-AF65-F5344CB8AC3E}">
        <p14:creationId xmlns:p14="http://schemas.microsoft.com/office/powerpoint/2010/main" val="22724594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latin typeface="Imprint MT Shadow" panose="04020605060303030202" pitchFamily="82" charset="0"/>
              </a:rPr>
              <a:t>Business-Driven Model Selection</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568070"/>
            <a:ext cx="10834234" cy="4398066"/>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1800" dirty="0" smtClean="0">
                <a:latin typeface="Times New Roman" panose="02020603050405020304" pitchFamily="18" charset="0"/>
                <a:cs typeface="Times New Roman" panose="02020603050405020304" pitchFamily="18" charset="0"/>
              </a:rPr>
              <a:t>Impact </a:t>
            </a:r>
            <a:r>
              <a:rPr lang="en-US" sz="1800" dirty="0">
                <a:latin typeface="Times New Roman" panose="02020603050405020304" pitchFamily="18" charset="0"/>
                <a:cs typeface="Times New Roman" panose="02020603050405020304" pitchFamily="18" charset="0"/>
              </a:rPr>
              <a:t>Analysis:</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LR catches 94 MORE lives (160 vs 66)</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BUT: 10,209 false alarms (22% of all cases)</a:t>
            </a:r>
          </a:p>
          <a:p>
            <a:pPr marL="0" indent="0">
              <a:buNone/>
            </a:pPr>
            <a:r>
              <a:rPr lang="en-US" alt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Would OVERWHELM emergency system</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REALITY CHECK:</a:t>
            </a:r>
          </a:p>
          <a:p>
            <a:pPr marL="0" indent="0">
              <a:buNone/>
            </a:pPr>
            <a:r>
              <a:rPr lang="en-US" sz="1800" dirty="0">
                <a:latin typeface="Times New Roman" panose="02020603050405020304" pitchFamily="18" charset="0"/>
                <a:cs typeface="Times New Roman" panose="02020603050405020304" pitchFamily="18" charset="0"/>
              </a:rPr>
              <a:t>Pure recall optimization is IMPRACTICAL</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Emergency system cannot handle 10K+ false alerts</a:t>
            </a:r>
            <a:endParaRPr lang="en-US"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50994" t="50172"/>
          <a:stretch/>
        </p:blipFill>
        <p:spPr>
          <a:xfrm>
            <a:off x="8443608" y="1123023"/>
            <a:ext cx="3473375" cy="2517621"/>
          </a:xfrm>
          <a:prstGeom prst="rect">
            <a:avLst/>
          </a:prstGeom>
        </p:spPr>
      </p:pic>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50172" r="48953"/>
          <a:stretch/>
        </p:blipFill>
        <p:spPr>
          <a:xfrm>
            <a:off x="6044902" y="3659801"/>
            <a:ext cx="3566025" cy="2481434"/>
          </a:xfrm>
          <a:prstGeom prst="rect">
            <a:avLst/>
          </a:prstGeom>
        </p:spPr>
      </p:pic>
    </p:spTree>
    <p:extLst>
      <p:ext uri="{BB962C8B-B14F-4D97-AF65-F5344CB8AC3E}">
        <p14:creationId xmlns:p14="http://schemas.microsoft.com/office/powerpoint/2010/main" val="42317692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DEPLOYMENT RECOMMENDATION</a:t>
            </a:r>
            <a:endParaRPr lang="en-US" dirty="0">
              <a:latin typeface="Imprint MT Shadow" panose="04020605060303030202" pitchFamily="82" charset="0"/>
            </a:endParaRPr>
          </a:p>
        </p:txBody>
      </p:sp>
      <p:sp>
        <p:nvSpPr>
          <p:cNvPr id="3" name="Content Placeholder 2"/>
          <p:cNvSpPr>
            <a:spLocks noGrp="1"/>
          </p:cNvSpPr>
          <p:nvPr>
            <p:ph idx="1"/>
          </p:nvPr>
        </p:nvSpPr>
        <p:spPr>
          <a:xfrm flipH="1" flipV="1">
            <a:off x="11649304" y="6141234"/>
            <a:ext cx="422721" cy="1689532"/>
          </a:xfrm>
        </p:spPr>
        <p:txBody>
          <a:bodyPr/>
          <a:lstStyle/>
          <a:p>
            <a:pPr marL="0" indent="0">
              <a:buNone/>
            </a:pPr>
            <a:endParaRPr lang="en-US" dirty="0"/>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smtClean="0">
                <a:latin typeface="Times New Roman" panose="02020603050405020304" pitchFamily="18" charset="0"/>
                <a:cs typeface="Times New Roman" panose="02020603050405020304" pitchFamily="18" charset="0"/>
              </a:rPr>
              <a:t>Layer </a:t>
            </a:r>
            <a:r>
              <a:rPr lang="en-US" sz="1400" b="1" dirty="0">
                <a:latin typeface="Times New Roman" panose="02020603050405020304" pitchFamily="18" charset="0"/>
                <a:cs typeface="Times New Roman" panose="02020603050405020304" pitchFamily="18" charset="0"/>
              </a:rPr>
              <a:t>1: ML Model (Gradient Boosting)</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Threshold: 0.30</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Expected Recall: ~47%</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False Alarms: &lt;200</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Foundation for risk scoring</a:t>
            </a:r>
          </a:p>
          <a:p>
            <a:pPr marL="0" indent="0">
              <a:buNone/>
            </a:pPr>
            <a:endParaRPr lang="en-US" sz="5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Layer 2: Rule-Based Overrides</a:t>
            </a:r>
          </a:p>
          <a:p>
            <a:pPr marL="0" indent="0">
              <a:buNone/>
            </a:pPr>
            <a:r>
              <a:rPr lang="en-US" sz="1400" dirty="0">
                <a:latin typeface="Times New Roman" panose="02020603050405020304" pitchFamily="18" charset="0"/>
                <a:cs typeface="Times New Roman" panose="02020603050405020304" pitchFamily="18" charset="0"/>
              </a:rPr>
              <a:t>Auto-escalate to maximum response if:</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Pedestrian or bicyclist involved</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Person ejected from vehicle</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Elderly (65+) or child involved</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Late night crash (12am-5am)</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No safety equipment used</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Alcohol/drug involvement </a:t>
            </a:r>
            <a:r>
              <a:rPr lang="en-US" sz="1400" dirty="0" smtClean="0">
                <a:latin typeface="Times New Roman" panose="02020603050405020304" pitchFamily="18" charset="0"/>
                <a:cs typeface="Times New Roman" panose="02020603050405020304" pitchFamily="18" charset="0"/>
              </a:rPr>
              <a:t>flagged</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9924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DEPLOYMENT RECOMMENDATION</a:t>
            </a:r>
            <a:endParaRPr lang="en-US" dirty="0">
              <a:latin typeface="Imprint MT Shadow" panose="04020605060303030202" pitchFamily="82" charset="0"/>
            </a:endParaRPr>
          </a:p>
        </p:txBody>
      </p:sp>
      <p:sp>
        <p:nvSpPr>
          <p:cNvPr id="3" name="Content Placeholder 2"/>
          <p:cNvSpPr>
            <a:spLocks noGrp="1"/>
          </p:cNvSpPr>
          <p:nvPr>
            <p:ph idx="1"/>
          </p:nvPr>
        </p:nvSpPr>
        <p:spPr>
          <a:xfrm flipH="1" flipV="1">
            <a:off x="11649304" y="6141234"/>
            <a:ext cx="422721" cy="1689532"/>
          </a:xfrm>
        </p:spPr>
        <p:txBody>
          <a:bodyPr/>
          <a:lstStyle/>
          <a:p>
            <a:pPr marL="0" indent="0">
              <a:buNone/>
            </a:pPr>
            <a:endParaRPr lang="en-US" dirty="0"/>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Layer </a:t>
            </a:r>
            <a:r>
              <a:rPr lang="en-US" sz="1800" b="1" dirty="0">
                <a:latin typeface="Times New Roman" panose="02020603050405020304" pitchFamily="18" charset="0"/>
                <a:cs typeface="Times New Roman" panose="02020603050405020304" pitchFamily="18" charset="0"/>
              </a:rPr>
              <a:t>3: Human Review</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Dispatcher final decision</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Override capability</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Feedback loop for model improvement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Expected Performance</a:t>
            </a:r>
            <a:r>
              <a:rPr lang="en-US" sz="1800" b="1" dirty="0" smtClean="0">
                <a:latin typeface="Times New Roman" panose="02020603050405020304" pitchFamily="18" charset="0"/>
                <a:cs typeface="Times New Roman" panose="02020603050405020304" pitchFamily="18" charset="0"/>
              </a:rPr>
              <a:t>: </a:t>
            </a: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ML Model: 47% recall</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Rule Overrides: +15-20% coverage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Total System: 60-70% recall </a:t>
            </a:r>
            <a:endParaRPr lang="en-AE" sz="1800" dirty="0">
              <a:latin typeface="Times New Roman" panose="02020603050405020304" pitchFamily="18" charset="0"/>
              <a:cs typeface="Times New Roman" panose="02020603050405020304" pitchFamily="18" charset="0"/>
            </a:endParaRPr>
          </a:p>
          <a:p>
            <a:pPr marL="0" indent="0">
              <a:buNone/>
            </a:pP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False Alarms: &lt;500 (manageable)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Lives Saved: ~60-90 additional per year</a:t>
            </a:r>
          </a:p>
        </p:txBody>
      </p:sp>
    </p:spTree>
    <p:extLst>
      <p:ext uri="{BB962C8B-B14F-4D97-AF65-F5344CB8AC3E}">
        <p14:creationId xmlns:p14="http://schemas.microsoft.com/office/powerpoint/2010/main" val="19850335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cs typeface="Times New Roman" panose="02020603050405020304" pitchFamily="18" charset="0"/>
              </a:rPr>
              <a:t>Key Insights &amp; Feature Importance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11624553" y="5778229"/>
            <a:ext cx="1686094" cy="294911"/>
          </a:xfrm>
        </p:spPr>
        <p:txBody>
          <a:bodyPr lIns="0" tIns="0" rIns="0" bIns="0" numCol="2" anchor="ctr">
            <a:normAutofit fontScale="92500" lnSpcReduction="20000"/>
          </a:bodyPr>
          <a:lstStyle/>
          <a:p>
            <a:pPr marL="0" lvl="0" indent="0" eaLnBrk="0" fontAlgn="base" hangingPunct="0">
              <a:lnSpc>
                <a:spcPct val="100000"/>
              </a:lnSpc>
              <a:spcBef>
                <a:spcPct val="0"/>
              </a:spcBef>
              <a:spcAft>
                <a:spcPct val="0"/>
              </a:spcAft>
              <a:buNone/>
            </a:pPr>
            <a:endParaRPr lang="en-US" altLang="en-US" sz="2400" dirty="0">
              <a:solidFill>
                <a:schemeClr val="tx1"/>
              </a:solidFill>
              <a:latin typeface="Arial" panose="020B0604020202020204" pitchFamily="34" charset="0"/>
            </a:endParaRPr>
          </a:p>
        </p:txBody>
      </p:sp>
      <p:sp>
        <p:nvSpPr>
          <p:cNvPr id="5"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Model </a:t>
            </a:r>
            <a:r>
              <a:rPr lang="en-US" sz="1800" b="1" dirty="0">
                <a:latin typeface="Times New Roman" panose="02020603050405020304" pitchFamily="18" charset="0"/>
                <a:cs typeface="Times New Roman" panose="02020603050405020304" pitchFamily="18" charset="0"/>
              </a:rPr>
              <a:t>Feature Importance (Top 10):</a:t>
            </a:r>
          </a:p>
          <a:p>
            <a:pPr marL="0" indent="0">
              <a:buNone/>
            </a:pPr>
            <a:r>
              <a:rPr lang="en-US" sz="1800" dirty="0">
                <a:latin typeface="Times New Roman" panose="02020603050405020304" pitchFamily="18" charset="0"/>
                <a:cs typeface="Times New Roman" panose="02020603050405020304" pitchFamily="18" charset="0"/>
              </a:rPr>
              <a:t>1. COMPLAINT (24.8%) - Type of physical injury</a:t>
            </a:r>
          </a:p>
          <a:p>
            <a:pPr marL="0" indent="0">
              <a:buNone/>
            </a:pPr>
            <a:r>
              <a:rPr lang="en-US" sz="1800" dirty="0">
                <a:latin typeface="Times New Roman" panose="02020603050405020304" pitchFamily="18" charset="0"/>
                <a:cs typeface="Times New Roman" panose="02020603050405020304" pitchFamily="18" charset="0"/>
              </a:rPr>
              <a:t>2. EMOTIONAL_STATUS (19.9%) - Consciousness level</a:t>
            </a:r>
          </a:p>
          <a:p>
            <a:pPr marL="0" indent="0">
              <a:buNone/>
            </a:pPr>
            <a:r>
              <a:rPr lang="en-US" sz="1800" dirty="0">
                <a:latin typeface="Times New Roman" panose="02020603050405020304" pitchFamily="18" charset="0"/>
                <a:cs typeface="Times New Roman" panose="02020603050405020304" pitchFamily="18" charset="0"/>
              </a:rPr>
              <a:t>3. CRASH_YEAR (16.0%) - Temporal trend</a:t>
            </a:r>
          </a:p>
          <a:p>
            <a:pPr marL="0" indent="0">
              <a:buNone/>
            </a:pPr>
            <a:r>
              <a:rPr lang="en-US" sz="1800" dirty="0">
                <a:latin typeface="Times New Roman" panose="02020603050405020304" pitchFamily="18" charset="0"/>
                <a:cs typeface="Times New Roman" panose="02020603050405020304" pitchFamily="18" charset="0"/>
              </a:rPr>
              <a:t>4. IS_PEDESTRIAN (8.4%) - Pedestrian flag</a:t>
            </a:r>
          </a:p>
          <a:p>
            <a:pPr marL="0" indent="0">
              <a:buNone/>
            </a:pPr>
            <a:r>
              <a:rPr lang="en-US" sz="1800" dirty="0">
                <a:latin typeface="Times New Roman" panose="02020603050405020304" pitchFamily="18" charset="0"/>
                <a:cs typeface="Times New Roman" panose="02020603050405020304" pitchFamily="18" charset="0"/>
              </a:rPr>
              <a:t>5. CRASH_DAY_OF_WEEK (5.5%) - Day of week</a:t>
            </a:r>
          </a:p>
          <a:p>
            <a:pPr marL="0" indent="0">
              <a:buNone/>
            </a:pPr>
            <a:r>
              <a:rPr lang="en-US" sz="1800" dirty="0">
                <a:latin typeface="Times New Roman" panose="02020603050405020304" pitchFamily="18" charset="0"/>
                <a:cs typeface="Times New Roman" panose="02020603050405020304" pitchFamily="18" charset="0"/>
              </a:rPr>
              <a:t>6. PERSON_AGE (4.2%) - Age of person</a:t>
            </a:r>
          </a:p>
          <a:p>
            <a:pPr marL="0" indent="0">
              <a:buNone/>
            </a:pPr>
            <a:r>
              <a:rPr lang="en-US" sz="1800" dirty="0">
                <a:latin typeface="Times New Roman" panose="02020603050405020304" pitchFamily="18" charset="0"/>
                <a:cs typeface="Times New Roman" panose="02020603050405020304" pitchFamily="18" charset="0"/>
              </a:rPr>
              <a:t>7. BODILY_INJURY (3.8%) - Body part injured</a:t>
            </a:r>
          </a:p>
          <a:p>
            <a:pPr marL="0" indent="0">
              <a:buNone/>
            </a:pPr>
            <a:r>
              <a:rPr lang="en-US" sz="1800" dirty="0">
                <a:latin typeface="Times New Roman" panose="02020603050405020304" pitchFamily="18" charset="0"/>
                <a:cs typeface="Times New Roman" panose="02020603050405020304" pitchFamily="18" charset="0"/>
              </a:rPr>
              <a:t>8. HAS_SAFETY_EQUIPMENT (2.9%) - Safety gear</a:t>
            </a:r>
          </a:p>
          <a:p>
            <a:pPr marL="0" indent="0">
              <a:buNone/>
            </a:pPr>
            <a:r>
              <a:rPr lang="en-US" sz="1800" dirty="0">
                <a:latin typeface="Times New Roman" panose="02020603050405020304" pitchFamily="18" charset="0"/>
                <a:cs typeface="Times New Roman" panose="02020603050405020304" pitchFamily="18" charset="0"/>
              </a:rPr>
              <a:t>9. CRASH_HOUR (2.1%) - Time of day</a:t>
            </a:r>
          </a:p>
          <a:p>
            <a:pPr marL="0" indent="0">
              <a:buNone/>
            </a:pPr>
            <a:r>
              <a:rPr lang="en-US" sz="1800" dirty="0">
                <a:latin typeface="Times New Roman" panose="02020603050405020304" pitchFamily="18" charset="0"/>
                <a:cs typeface="Times New Roman" panose="02020603050405020304" pitchFamily="18" charset="0"/>
              </a:rPr>
              <a:t>10. WAS_EJECTED (1.8%) - Ejection </a:t>
            </a:r>
            <a:r>
              <a:rPr lang="en-US" sz="1800" dirty="0" smtClean="0">
                <a:latin typeface="Times New Roman" panose="02020603050405020304" pitchFamily="18" charset="0"/>
                <a:cs typeface="Times New Roman" panose="02020603050405020304" pitchFamily="18" charset="0"/>
              </a:rPr>
              <a:t>status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429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cs typeface="Times New Roman" panose="02020603050405020304" pitchFamily="18" charset="0"/>
              </a:rPr>
              <a:t>Key Insights &amp; Feature Importance</a:t>
            </a:r>
          </a:p>
        </p:txBody>
      </p:sp>
      <p:sp>
        <p:nvSpPr>
          <p:cNvPr id="5"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Actionable </a:t>
            </a:r>
            <a:r>
              <a:rPr lang="en-US" sz="1800" b="1" dirty="0">
                <a:latin typeface="Times New Roman" panose="02020603050405020304" pitchFamily="18" charset="0"/>
                <a:cs typeface="Times New Roman" panose="02020603050405020304" pitchFamily="18" charset="0"/>
              </a:rPr>
              <a:t>Insights:</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Medical indicators (complaint, consciousness) most predictive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Pedestrians 3x more likely to be fatal</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Safety equipment reduces risk by 50%</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Late night + no safety equipment = highest risk</a:t>
            </a:r>
          </a:p>
        </p:txBody>
      </p:sp>
      <p:pic>
        <p:nvPicPr>
          <p:cNvPr id="8" name="Content Placeholder 7"/>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096000" y="2235479"/>
            <a:ext cx="4643335" cy="3866844"/>
          </a:xfrm>
        </p:spPr>
      </p:pic>
    </p:spTree>
    <p:extLst>
      <p:ext uri="{BB962C8B-B14F-4D97-AF65-F5344CB8AC3E}">
        <p14:creationId xmlns:p14="http://schemas.microsoft.com/office/powerpoint/2010/main" val="9693816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Challenges &amp; Lessons Learned</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11661977" y="5529035"/>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1</a:t>
            </a:r>
            <a:r>
              <a:rPr lang="en-US" sz="1800" b="1" dirty="0">
                <a:latin typeface="Times New Roman" panose="02020603050405020304" pitchFamily="18" charset="0"/>
                <a:cs typeface="Times New Roman" panose="02020603050405020304" pitchFamily="18" charset="0"/>
              </a:rPr>
              <a:t>. Extreme Class Imbalance (224:1)</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Challenge: Very few fatal cases to learn from</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Impact: Even with SMOTE, recall limited</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Learning: More fatal case data needed</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2. Feature Availability</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Some features (COMPLAINT, EMOTIONAL_STATUS) known POST-crash</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May not be available for real-time prediction</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Need pre-crash features (weather, vehicle type, location</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3225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Challenges &amp; Lessons Learned</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11661977" y="5529035"/>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3</a:t>
            </a:r>
            <a:r>
              <a:rPr lang="en-US" sz="1800" b="1" dirty="0">
                <a:latin typeface="Times New Roman" panose="02020603050405020304" pitchFamily="18" charset="0"/>
                <a:cs typeface="Times New Roman" panose="02020603050405020304" pitchFamily="18" charset="0"/>
              </a:rPr>
              <a:t>. Data Quality Issues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Age anomalies (999, 9999 placeholders)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48K missing VEHICLE_IDs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Required extensive cleaning</a:t>
            </a:r>
          </a:p>
          <a:p>
            <a:pPr marL="0" indent="0">
              <a:buNone/>
            </a:pPr>
            <a:endParaRPr lang="en-US" sz="2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4. Recall vs False Alarm Trade-off</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Pure ML optimization can be impractical</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78% recall with 10K false alarms unusable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Real-world requires hybrid ML + rules approach</a:t>
            </a:r>
          </a:p>
          <a:p>
            <a:pPr marL="0" indent="0">
              <a:buNone/>
            </a:pPr>
            <a:endParaRPr lang="en-US" sz="11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KEY LEARNING:</a:t>
            </a:r>
          </a:p>
          <a:p>
            <a:pPr marL="0" indent="0">
              <a:buNone/>
            </a:pPr>
            <a:r>
              <a:rPr lang="en-US" sz="1800" dirty="0">
                <a:latin typeface="Times New Roman" panose="02020603050405020304" pitchFamily="18" charset="0"/>
                <a:cs typeface="Times New Roman" panose="02020603050405020304" pitchFamily="18" charset="0"/>
              </a:rPr>
              <a:t>"Best model" depends on business </a:t>
            </a:r>
            <a:r>
              <a:rPr lang="en-US" sz="1800" dirty="0" smtClean="0">
                <a:latin typeface="Times New Roman" panose="02020603050405020304" pitchFamily="18" charset="0"/>
                <a:cs typeface="Times New Roman" panose="02020603050405020304" pitchFamily="18" charset="0"/>
              </a:rPr>
              <a:t>constraints, not </a:t>
            </a:r>
            <a:r>
              <a:rPr lang="en-US" sz="1800" dirty="0">
                <a:latin typeface="Times New Roman" panose="02020603050405020304" pitchFamily="18" charset="0"/>
                <a:cs typeface="Times New Roman" panose="02020603050405020304" pitchFamily="18" charset="0"/>
              </a:rPr>
              <a:t>just metric optimization!</a:t>
            </a:r>
          </a:p>
        </p:txBody>
      </p:sp>
    </p:spTree>
    <p:extLst>
      <p:ext uri="{BB962C8B-B14F-4D97-AF65-F5344CB8AC3E}">
        <p14:creationId xmlns:p14="http://schemas.microsoft.com/office/powerpoint/2010/main" val="20100282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Future Work &amp; Recommendations</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11661977" y="5529035"/>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560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Data </a:t>
            </a:r>
            <a:r>
              <a:rPr lang="en-US" sz="1800" b="1" dirty="0">
                <a:latin typeface="Times New Roman" panose="02020603050405020304" pitchFamily="18" charset="0"/>
                <a:cs typeface="Times New Roman" panose="02020603050405020304" pitchFamily="18" charset="0"/>
              </a:rPr>
              <a:t>Collection:</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Gather more fatal case data (active learning)</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Add weather conditions at crash time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Include road type, intersection complexity</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Vehicle make/model, safety ratings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Real-time traffic density</a:t>
            </a:r>
          </a:p>
          <a:p>
            <a:pPr marL="0" indent="0">
              <a:buNone/>
            </a:pPr>
            <a:endParaRPr lang="en-US" sz="1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Model Improvements: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Ensemble methods (combine GB + LR)</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Deep learning (neural networks)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Time-series features (recent accident history)</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Geographic clustering (high-risk zones)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Cost-sensitive learning (weight fatal misses higher</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40489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Future Work &amp; Recommendations</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11661977" y="5529035"/>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10834234"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Deployment </a:t>
            </a:r>
            <a:r>
              <a:rPr lang="en-US" sz="1800" b="1" dirty="0">
                <a:latin typeface="Times New Roman" panose="02020603050405020304" pitchFamily="18" charset="0"/>
                <a:cs typeface="Times New Roman" panose="02020603050405020304" pitchFamily="18" charset="0"/>
              </a:rPr>
              <a:t>Enhancements: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A/B testing with control group</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Real-time prediction API</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Integration with CAD (Computer-Aided Dispatch)</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Continuous learning pipeline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Performance monitoring dashboard</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Expected ROI:</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60-70% fatal case identification</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15% reduction in response </a:t>
            </a:r>
            <a:r>
              <a:rPr lang="en-US" sz="1800" dirty="0" smtClean="0">
                <a:latin typeface="Times New Roman" panose="02020603050405020304" pitchFamily="18" charset="0"/>
                <a:cs typeface="Times New Roman" panose="02020603050405020304" pitchFamily="18" charset="0"/>
              </a:rPr>
              <a:t>time </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Estimated: 60-90 lives saved annually</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Improved resource allocation efficiency</a:t>
            </a:r>
          </a:p>
        </p:txBody>
      </p:sp>
    </p:spTree>
    <p:extLst>
      <p:ext uri="{BB962C8B-B14F-4D97-AF65-F5344CB8AC3E}">
        <p14:creationId xmlns:p14="http://schemas.microsoft.com/office/powerpoint/2010/main" val="30440831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Conclusion</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11661977" y="5529035"/>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498D2CD-3F24-F46B-D0FD-F213BDB36EC1}"/>
              </a:ext>
            </a:extLst>
          </p:cNvPr>
          <p:cNvSpPr txBox="1">
            <a:spLocks/>
          </p:cNvSpPr>
          <p:nvPr/>
        </p:nvSpPr>
        <p:spPr>
          <a:xfrm>
            <a:off x="678884" y="1568070"/>
            <a:ext cx="6149933"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What </a:t>
            </a:r>
            <a:r>
              <a:rPr lang="en-US" sz="1800" b="1" dirty="0">
                <a:latin typeface="Times New Roman" panose="02020603050405020304" pitchFamily="18" charset="0"/>
                <a:cs typeface="Times New Roman" panose="02020603050405020304" pitchFamily="18" charset="0"/>
              </a:rPr>
              <a:t>We Achieved:</a:t>
            </a:r>
          </a:p>
          <a:p>
            <a:pPr marL="0" indent="0">
              <a:buNone/>
            </a:pPr>
            <a:r>
              <a:rPr lang="en-AE" sz="1800" dirty="0">
                <a:latin typeface="Times New Roman" panose="02020603050405020304" pitchFamily="18" charset="0"/>
                <a:cs typeface="Times New Roman" panose="02020603050405020304" pitchFamily="18" charset="0"/>
              </a:rPr>
              <a:t> </a:t>
            </a: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Built ML model with 0.8975 ROC-AUC</a:t>
            </a:r>
          </a:p>
          <a:p>
            <a:pPr marL="0" indent="0">
              <a:buNone/>
            </a:pP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Addressed extreme class imbalance (224:1)</a:t>
            </a:r>
          </a:p>
          <a:p>
            <a:pPr marL="0" indent="0">
              <a:buNone/>
            </a:pP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Comprehensive threshold optimization</a:t>
            </a:r>
          </a:p>
          <a:p>
            <a:pPr marL="0" indent="0">
              <a:buNone/>
            </a:pP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Business-driven model selection analysis</a:t>
            </a:r>
          </a:p>
          <a:p>
            <a:pPr marL="0" indent="0">
              <a:buNone/>
            </a:pPr>
            <a:r>
              <a:rPr lang="en-AE"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Practical hybrid deployment strategy</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Key Findings: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ML alone: 47% recall with Gradient Boosting</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Pure recall optimization impractical (10K false alarms)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Hybrid approach: 60-70% expected coverage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Pedestrians, elderly, no safety equipment = highest </a:t>
            </a:r>
            <a:r>
              <a:rPr lang="en-US" sz="1800" dirty="0" smtClean="0">
                <a:latin typeface="Times New Roman" panose="02020603050405020304" pitchFamily="18" charset="0"/>
                <a:cs typeface="Times New Roman" panose="02020603050405020304" pitchFamily="18" charset="0"/>
              </a:rPr>
              <a:t>risk</a:t>
            </a:r>
            <a:endParaRPr lang="en-US" sz="18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5498D2CD-3F24-F46B-D0FD-F213BDB36EC1}"/>
              </a:ext>
            </a:extLst>
          </p:cNvPr>
          <p:cNvSpPr txBox="1">
            <a:spLocks/>
          </p:cNvSpPr>
          <p:nvPr/>
        </p:nvSpPr>
        <p:spPr>
          <a:xfrm>
            <a:off x="6624546" y="1568070"/>
            <a:ext cx="5933873" cy="4398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smtClean="0">
                <a:latin typeface="Times New Roman" panose="02020603050405020304" pitchFamily="18" charset="0"/>
                <a:cs typeface="Times New Roman" panose="02020603050405020304" pitchFamily="18" charset="0"/>
              </a:rPr>
              <a:t>Business </a:t>
            </a:r>
            <a:r>
              <a:rPr lang="en-US" sz="1800" b="1" dirty="0">
                <a:latin typeface="Times New Roman" panose="02020603050405020304" pitchFamily="18" charset="0"/>
                <a:cs typeface="Times New Roman" panose="02020603050405020304" pitchFamily="18" charset="0"/>
              </a:rPr>
              <a:t>Value: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Optimized emergency resource allocation</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Faster response to critical cases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Data-driven safety interventions</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Estimated 60-90 lives saved annually</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Demonstration of:</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End-to-end ML pipeline</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Real-world problem solving</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Business acumen &amp; practical thinking</a:t>
            </a:r>
          </a:p>
          <a:p>
            <a:pPr marL="0" indent="0">
              <a:buNone/>
            </a:pP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Professional data science workflow</a:t>
            </a:r>
          </a:p>
        </p:txBody>
      </p:sp>
    </p:spTree>
    <p:extLst>
      <p:ext uri="{BB962C8B-B14F-4D97-AF65-F5344CB8AC3E}">
        <p14:creationId xmlns:p14="http://schemas.microsoft.com/office/powerpoint/2010/main" val="23427976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782536"/>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445" y="-1528864"/>
            <a:ext cx="5449109" cy="5449109"/>
          </a:xfrm>
          <a:prstGeom prst="rect">
            <a:avLst/>
          </a:prstGeom>
        </p:spPr>
      </p:pic>
    </p:spTree>
    <p:extLst>
      <p:ext uri="{BB962C8B-B14F-4D97-AF65-F5344CB8AC3E}">
        <p14:creationId xmlns:p14="http://schemas.microsoft.com/office/powerpoint/2010/main" val="2438371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12108</TotalTime>
  <Words>1589</Words>
  <Application>Microsoft Office PowerPoint</Application>
  <PresentationFormat>Widescreen</PresentationFormat>
  <Paragraphs>340</Paragraphs>
  <Slides>25</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Algerian</vt:lpstr>
      <vt:lpstr>Arial</vt:lpstr>
      <vt:lpstr>Bahnschrift</vt:lpstr>
      <vt:lpstr>Calibri</vt:lpstr>
      <vt:lpstr>Imprint MT Shadow</vt:lpstr>
      <vt:lpstr>Roboto</vt:lpstr>
      <vt:lpstr>Segoe UI Semibold</vt:lpstr>
      <vt:lpstr>Stencil</vt:lpstr>
      <vt:lpstr>Times New Roman</vt:lpstr>
      <vt:lpstr>BIA Template</vt:lpstr>
      <vt:lpstr>PowerPoint Presentation</vt:lpstr>
      <vt:lpstr>TABLE OF CONTENTS</vt:lpstr>
      <vt:lpstr>THE PROBLEM</vt:lpstr>
      <vt:lpstr>Exploratory Data Analysis - Key Findings</vt:lpstr>
      <vt:lpstr>Exploratory Data Analysis - Key Findings</vt:lpstr>
      <vt:lpstr>MACHINE LEARNING PIPELINE</vt:lpstr>
      <vt:lpstr>MACHINE LEARNING PIPELINE</vt:lpstr>
      <vt:lpstr>Model Comparison</vt:lpstr>
      <vt:lpstr>Model Comparison</vt:lpstr>
      <vt:lpstr>Model Performance - Gradient Boosting</vt:lpstr>
      <vt:lpstr>Model Performance - Gradient Boosting</vt:lpstr>
      <vt:lpstr>Threshold Optimization</vt:lpstr>
      <vt:lpstr>Threshold Optimization</vt:lpstr>
      <vt:lpstr>Business-Driven Model Selection</vt:lpstr>
      <vt:lpstr>Business-Driven Model Selection</vt:lpstr>
      <vt:lpstr>DEPLOYMENT RECOMMENDATION</vt:lpstr>
      <vt:lpstr>DEPLOYMENT RECOMMENDATION</vt:lpstr>
      <vt:lpstr>Key Insights &amp; Feature Importance</vt:lpstr>
      <vt:lpstr>Key Insights &amp; Feature Importance</vt:lpstr>
      <vt:lpstr>Challenges &amp; Lessons Learned</vt:lpstr>
      <vt:lpstr>Challenges &amp; Lessons Learned</vt:lpstr>
      <vt:lpstr>Future Work &amp; Recommendations</vt:lpstr>
      <vt:lpstr>Future Work &amp; 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PC</cp:lastModifiedBy>
  <cp:revision>2287</cp:revision>
  <dcterms:created xsi:type="dcterms:W3CDTF">2020-12-23T13:36:00Z</dcterms:created>
  <dcterms:modified xsi:type="dcterms:W3CDTF">2026-02-05T10:57:23Z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